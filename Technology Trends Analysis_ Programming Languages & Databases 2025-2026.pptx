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6256000" cy="9144000"/>
  <p:notesSz cx="9144000" cy="16256000"/>
  <p:embeddedFontLst>
    <p:embeddedFont>
      <p:font typeface="Quattrocento Sans" charset="-122" pitchFamily="34"/>
      <p:regular r:id="rId18"/>
    </p:embeddedFont>
    <p:embeddedFont>
      <p:font typeface="Liter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f3157819f170215eeb568919b03d372ba4ed319e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4A5C6A">
                  <a:alpha val="80000"/>
                </a:srgbClr>
              </a:gs>
              <a:gs pos="100000">
                <a:srgbClr val="1A1D24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6145530" y="511387"/>
            <a:ext cx="3969173" cy="565573"/>
          </a:xfrm>
          <a:custGeom>
            <a:avLst/>
            <a:gdLst/>
            <a:ahLst/>
            <a:cxnLst/>
            <a:rect l="l" t="t" r="r" b="b"/>
            <a:pathLst>
              <a:path w="3969173" h="565573">
                <a:moveTo>
                  <a:pt x="282787" y="0"/>
                </a:moveTo>
                <a:lnTo>
                  <a:pt x="3686387" y="0"/>
                </a:lnTo>
                <a:cubicBezTo>
                  <a:pt x="3842565" y="0"/>
                  <a:pt x="3969173" y="126608"/>
                  <a:pt x="3969173" y="282787"/>
                </a:cubicBezTo>
                <a:lnTo>
                  <a:pt x="3969173" y="282787"/>
                </a:lnTo>
                <a:cubicBezTo>
                  <a:pt x="3969173" y="438965"/>
                  <a:pt x="3842565" y="565573"/>
                  <a:pt x="3686387" y="565573"/>
                </a:cubicBezTo>
                <a:lnTo>
                  <a:pt x="282787" y="565573"/>
                </a:lnTo>
                <a:cubicBezTo>
                  <a:pt x="126608" y="565573"/>
                  <a:pt x="0" y="438965"/>
                  <a:pt x="0" y="282787"/>
                </a:cubicBezTo>
                <a:lnTo>
                  <a:pt x="0" y="282787"/>
                </a:lnTo>
                <a:cubicBezTo>
                  <a:pt x="0" y="126608"/>
                  <a:pt x="126608" y="0"/>
                  <a:pt x="282787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6773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96567" y="663787"/>
            <a:ext cx="3462867" cy="257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spc="9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ANALYSIS REPORT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854114" y="1385147"/>
            <a:ext cx="10553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Trends Analysis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30314" y="2540847"/>
            <a:ext cx="10401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 Languages &amp; Databases 2025-2026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0" y="3455247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2968414" y="3912447"/>
            <a:ext cx="10325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Insights for Technology Decision-Making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3908" y="8356601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88900" y="98425"/>
                </a:moveTo>
                <a:cubicBezTo>
                  <a:pt x="115185" y="98425"/>
                  <a:pt x="136525" y="77085"/>
                  <a:pt x="136525" y="50800"/>
                </a:cubicBezTo>
                <a:cubicBezTo>
                  <a:pt x="136525" y="24515"/>
                  <a:pt x="115185" y="3175"/>
                  <a:pt x="88900" y="3175"/>
                </a:cubicBezTo>
                <a:cubicBezTo>
                  <a:pt x="62615" y="3175"/>
                  <a:pt x="41275" y="24515"/>
                  <a:pt x="41275" y="50800"/>
                </a:cubicBezTo>
                <a:cubicBezTo>
                  <a:pt x="41275" y="77085"/>
                  <a:pt x="62615" y="98425"/>
                  <a:pt x="88900" y="98425"/>
                </a:cubicBezTo>
                <a:close/>
                <a:moveTo>
                  <a:pt x="77113" y="120650"/>
                </a:moveTo>
                <a:cubicBezTo>
                  <a:pt x="38021" y="120650"/>
                  <a:pt x="6350" y="152321"/>
                  <a:pt x="6350" y="191413"/>
                </a:cubicBezTo>
                <a:cubicBezTo>
                  <a:pt x="6350" y="197922"/>
                  <a:pt x="11628" y="203200"/>
                  <a:pt x="18137" y="203200"/>
                </a:cubicBezTo>
                <a:lnTo>
                  <a:pt x="159663" y="203200"/>
                </a:lnTo>
                <a:cubicBezTo>
                  <a:pt x="166172" y="203200"/>
                  <a:pt x="171450" y="197922"/>
                  <a:pt x="171450" y="191413"/>
                </a:cubicBezTo>
                <a:cubicBezTo>
                  <a:pt x="171450" y="152321"/>
                  <a:pt x="139779" y="120650"/>
                  <a:pt x="100687" y="120650"/>
                </a:cubicBezTo>
                <a:lnTo>
                  <a:pt x="77113" y="12065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8"/>
          <p:cNvSpPr/>
          <p:nvPr/>
        </p:nvSpPr>
        <p:spPr>
          <a:xfrm>
            <a:off x="5284258" y="8280401"/>
            <a:ext cx="408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 Technology Strategy Team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762490" y="8356601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50800" y="0"/>
                </a:moveTo>
                <a:cubicBezTo>
                  <a:pt x="43775" y="0"/>
                  <a:pt x="38100" y="5675"/>
                  <a:pt x="38100" y="12700"/>
                </a:cubicBezTo>
                <a:lnTo>
                  <a:pt x="38100" y="25400"/>
                </a:lnTo>
                <a:lnTo>
                  <a:pt x="25400" y="25400"/>
                </a:lnTo>
                <a:cubicBezTo>
                  <a:pt x="11390" y="25400"/>
                  <a:pt x="0" y="36790"/>
                  <a:pt x="0" y="50800"/>
                </a:cubicBezTo>
                <a:lnTo>
                  <a:pt x="0" y="69850"/>
                </a:lnTo>
                <a:lnTo>
                  <a:pt x="177800" y="69850"/>
                </a:lnTo>
                <a:lnTo>
                  <a:pt x="177800" y="50800"/>
                </a:lnTo>
                <a:cubicBezTo>
                  <a:pt x="177800" y="36790"/>
                  <a:pt x="166410" y="25400"/>
                  <a:pt x="152400" y="25400"/>
                </a:cubicBezTo>
                <a:lnTo>
                  <a:pt x="139700" y="25400"/>
                </a:lnTo>
                <a:lnTo>
                  <a:pt x="139700" y="12700"/>
                </a:lnTo>
                <a:cubicBezTo>
                  <a:pt x="139700" y="5675"/>
                  <a:pt x="134025" y="0"/>
                  <a:pt x="127000" y="0"/>
                </a:cubicBezTo>
                <a:cubicBezTo>
                  <a:pt x="119975" y="0"/>
                  <a:pt x="114300" y="5675"/>
                  <a:pt x="114300" y="12700"/>
                </a:cubicBezTo>
                <a:lnTo>
                  <a:pt x="114300" y="25400"/>
                </a:lnTo>
                <a:lnTo>
                  <a:pt x="63500" y="25400"/>
                </a:lnTo>
                <a:lnTo>
                  <a:pt x="63500" y="12700"/>
                </a:lnTo>
                <a:cubicBezTo>
                  <a:pt x="63500" y="5675"/>
                  <a:pt x="57825" y="0"/>
                  <a:pt x="50800" y="0"/>
                </a:cubicBezTo>
                <a:close/>
                <a:moveTo>
                  <a:pt x="0" y="88900"/>
                </a:move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88900"/>
                </a:lnTo>
                <a:lnTo>
                  <a:pt x="0" y="8890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0"/>
          <p:cNvSpPr/>
          <p:nvPr/>
        </p:nvSpPr>
        <p:spPr>
          <a:xfrm>
            <a:off x="10022840" y="8280401"/>
            <a:ext cx="1308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March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08000"/>
            <a:ext cx="4330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Outline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1200" y="1117600"/>
            <a:ext cx="151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Navigate through 11 key sections of our comprehensive technology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1707" y="1778000"/>
            <a:ext cx="7491307" cy="1016000"/>
          </a:xfrm>
          <a:custGeom>
            <a:avLst/>
            <a:gdLst/>
            <a:ahLst/>
            <a:cxnLst/>
            <a:rect l="l" t="t" r="r" b="b"/>
            <a:pathLst>
              <a:path w="7491307" h="1016000">
                <a:moveTo>
                  <a:pt x="47413" y="0"/>
                </a:moveTo>
                <a:lnTo>
                  <a:pt x="7389707" y="0"/>
                </a:lnTo>
                <a:cubicBezTo>
                  <a:pt x="7445781" y="0"/>
                  <a:pt x="7491307" y="45525"/>
                  <a:pt x="7491307" y="101600"/>
                </a:cubicBezTo>
                <a:lnTo>
                  <a:pt x="7491307" y="914400"/>
                </a:lnTo>
                <a:cubicBezTo>
                  <a:pt x="7491307" y="970475"/>
                  <a:pt x="7445781" y="1016000"/>
                  <a:pt x="7389707" y="1016000"/>
                </a:cubicBez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1707" y="1778000"/>
            <a:ext cx="47413" cy="1016000"/>
          </a:xfrm>
          <a:custGeom>
            <a:avLst/>
            <a:gdLst/>
            <a:ahLst/>
            <a:cxnLst/>
            <a:rect l="l" t="t" r="r" b="b"/>
            <a:pathLst>
              <a:path w="47413" h="1016000">
                <a:moveTo>
                  <a:pt x="47413" y="0"/>
                </a:moveTo>
                <a:lnTo>
                  <a:pt x="47413" y="0"/>
                </a:lnTo>
                <a:lnTo>
                  <a:pt x="47413" y="1016000"/>
                </a:ln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Shape 5"/>
          <p:cNvSpPr/>
          <p:nvPr/>
        </p:nvSpPr>
        <p:spPr>
          <a:xfrm>
            <a:off x="758613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01463" y="20320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9813" y="1981200"/>
            <a:ext cx="304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Title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9813" y="2336800"/>
            <a:ext cx="302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Trends Analysis Overview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1707" y="2946399"/>
            <a:ext cx="7491307" cy="1016000"/>
          </a:xfrm>
          <a:custGeom>
            <a:avLst/>
            <a:gdLst/>
            <a:ahLst/>
            <a:cxnLst/>
            <a:rect l="l" t="t" r="r" b="b"/>
            <a:pathLst>
              <a:path w="7491307" h="1016000">
                <a:moveTo>
                  <a:pt x="47413" y="0"/>
                </a:moveTo>
                <a:lnTo>
                  <a:pt x="7389707" y="0"/>
                </a:lnTo>
                <a:cubicBezTo>
                  <a:pt x="7445781" y="0"/>
                  <a:pt x="7491307" y="45525"/>
                  <a:pt x="7491307" y="101600"/>
                </a:cubicBezTo>
                <a:lnTo>
                  <a:pt x="7491307" y="914400"/>
                </a:lnTo>
                <a:cubicBezTo>
                  <a:pt x="7491307" y="970475"/>
                  <a:pt x="7445781" y="1016000"/>
                  <a:pt x="7389707" y="1016000"/>
                </a:cubicBez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1707" y="2946399"/>
            <a:ext cx="47413" cy="1016000"/>
          </a:xfrm>
          <a:custGeom>
            <a:avLst/>
            <a:gdLst/>
            <a:ahLst/>
            <a:cxnLst/>
            <a:rect l="l" t="t" r="r" b="b"/>
            <a:pathLst>
              <a:path w="47413" h="1016000">
                <a:moveTo>
                  <a:pt x="47413" y="0"/>
                </a:moveTo>
                <a:lnTo>
                  <a:pt x="47413" y="0"/>
                </a:lnTo>
                <a:lnTo>
                  <a:pt x="47413" y="1016000"/>
                </a:ln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613" y="320039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4" name="Text 12"/>
          <p:cNvSpPr/>
          <p:nvPr/>
        </p:nvSpPr>
        <p:spPr>
          <a:xfrm>
            <a:off x="701463" y="3200399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9813" y="3149599"/>
            <a:ext cx="285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9813" y="3505199"/>
            <a:ext cx="283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Structure &amp; Navigation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1707" y="4114799"/>
            <a:ext cx="7491307" cy="1016000"/>
          </a:xfrm>
          <a:custGeom>
            <a:avLst/>
            <a:gdLst/>
            <a:ahLst/>
            <a:cxnLst/>
            <a:rect l="l" t="t" r="r" b="b"/>
            <a:pathLst>
              <a:path w="7491307" h="1016000">
                <a:moveTo>
                  <a:pt x="47413" y="0"/>
                </a:moveTo>
                <a:lnTo>
                  <a:pt x="7389707" y="0"/>
                </a:lnTo>
                <a:cubicBezTo>
                  <a:pt x="7445781" y="0"/>
                  <a:pt x="7491307" y="45525"/>
                  <a:pt x="7491307" y="101600"/>
                </a:cubicBezTo>
                <a:lnTo>
                  <a:pt x="7491307" y="914400"/>
                </a:lnTo>
                <a:cubicBezTo>
                  <a:pt x="7491307" y="970475"/>
                  <a:pt x="7445781" y="1016000"/>
                  <a:pt x="7389707" y="1016000"/>
                </a:cubicBez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31707" y="4114799"/>
            <a:ext cx="47413" cy="1016000"/>
          </a:xfrm>
          <a:custGeom>
            <a:avLst/>
            <a:gdLst/>
            <a:ahLst/>
            <a:cxnLst/>
            <a:rect l="l" t="t" r="r" b="b"/>
            <a:pathLst>
              <a:path w="47413" h="1016000">
                <a:moveTo>
                  <a:pt x="47413" y="0"/>
                </a:moveTo>
                <a:lnTo>
                  <a:pt x="47413" y="0"/>
                </a:lnTo>
                <a:lnTo>
                  <a:pt x="47413" y="1016000"/>
                </a:ln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758613" y="436879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701463" y="4368799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9813" y="4317999"/>
            <a:ext cx="212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9813" y="4673599"/>
            <a:ext cx="209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 at a Glance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1707" y="5283201"/>
            <a:ext cx="7491307" cy="1016000"/>
          </a:xfrm>
          <a:custGeom>
            <a:avLst/>
            <a:gdLst/>
            <a:ahLst/>
            <a:cxnLst/>
            <a:rect l="l" t="t" r="r" b="b"/>
            <a:pathLst>
              <a:path w="7491307" h="1016000">
                <a:moveTo>
                  <a:pt x="47413" y="0"/>
                </a:moveTo>
                <a:lnTo>
                  <a:pt x="7389707" y="0"/>
                </a:lnTo>
                <a:cubicBezTo>
                  <a:pt x="7445781" y="0"/>
                  <a:pt x="7491307" y="45525"/>
                  <a:pt x="7491307" y="101600"/>
                </a:cubicBezTo>
                <a:lnTo>
                  <a:pt x="7491307" y="914400"/>
                </a:lnTo>
                <a:cubicBezTo>
                  <a:pt x="7491307" y="970475"/>
                  <a:pt x="7445781" y="1016000"/>
                  <a:pt x="7389707" y="1016000"/>
                </a:cubicBez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31707" y="5283201"/>
            <a:ext cx="47413" cy="1016000"/>
          </a:xfrm>
          <a:custGeom>
            <a:avLst/>
            <a:gdLst/>
            <a:ahLst/>
            <a:cxnLst/>
            <a:rect l="l" t="t" r="r" b="b"/>
            <a:pathLst>
              <a:path w="47413" h="1016000">
                <a:moveTo>
                  <a:pt x="47413" y="0"/>
                </a:moveTo>
                <a:lnTo>
                  <a:pt x="47413" y="0"/>
                </a:lnTo>
                <a:lnTo>
                  <a:pt x="47413" y="1016000"/>
                </a:ln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Shape 23"/>
          <p:cNvSpPr/>
          <p:nvPr/>
        </p:nvSpPr>
        <p:spPr>
          <a:xfrm>
            <a:off x="758613" y="553720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6" name="Text 24"/>
          <p:cNvSpPr/>
          <p:nvPr/>
        </p:nvSpPr>
        <p:spPr>
          <a:xfrm>
            <a:off x="701463" y="5537201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9813" y="5486401"/>
            <a:ext cx="219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69813" y="5842001"/>
            <a:ext cx="217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Purpose, Audience &amp; Value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1707" y="6451601"/>
            <a:ext cx="7491307" cy="1016000"/>
          </a:xfrm>
          <a:custGeom>
            <a:avLst/>
            <a:gdLst/>
            <a:ahLst/>
            <a:cxnLst/>
            <a:rect l="l" t="t" r="r" b="b"/>
            <a:pathLst>
              <a:path w="7491307" h="1016000">
                <a:moveTo>
                  <a:pt x="47413" y="0"/>
                </a:moveTo>
                <a:lnTo>
                  <a:pt x="7389707" y="0"/>
                </a:lnTo>
                <a:cubicBezTo>
                  <a:pt x="7445781" y="0"/>
                  <a:pt x="7491307" y="45525"/>
                  <a:pt x="7491307" y="101600"/>
                </a:cubicBezTo>
                <a:lnTo>
                  <a:pt x="7491307" y="914400"/>
                </a:lnTo>
                <a:cubicBezTo>
                  <a:pt x="7491307" y="970475"/>
                  <a:pt x="7445781" y="1016000"/>
                  <a:pt x="7389707" y="1016000"/>
                </a:cubicBez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31707" y="6451601"/>
            <a:ext cx="47413" cy="1016000"/>
          </a:xfrm>
          <a:custGeom>
            <a:avLst/>
            <a:gdLst/>
            <a:ahLst/>
            <a:cxnLst/>
            <a:rect l="l" t="t" r="r" b="b"/>
            <a:pathLst>
              <a:path w="47413" h="1016000">
                <a:moveTo>
                  <a:pt x="47413" y="0"/>
                </a:moveTo>
                <a:lnTo>
                  <a:pt x="47413" y="0"/>
                </a:lnTo>
                <a:lnTo>
                  <a:pt x="47413" y="1016000"/>
                </a:ln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758613" y="670560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2" name="Text 30"/>
          <p:cNvSpPr/>
          <p:nvPr/>
        </p:nvSpPr>
        <p:spPr>
          <a:xfrm>
            <a:off x="701463" y="6705601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69813" y="6654801"/>
            <a:ext cx="297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69813" y="7010401"/>
            <a:ext cx="294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Framework &amp; Data Sources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1707" y="7620001"/>
            <a:ext cx="7491307" cy="1016000"/>
          </a:xfrm>
          <a:custGeom>
            <a:avLst/>
            <a:gdLst/>
            <a:ahLst/>
            <a:cxnLst/>
            <a:rect l="l" t="t" r="r" b="b"/>
            <a:pathLst>
              <a:path w="7491307" h="1016000">
                <a:moveTo>
                  <a:pt x="47413" y="0"/>
                </a:moveTo>
                <a:lnTo>
                  <a:pt x="7389707" y="0"/>
                </a:lnTo>
                <a:cubicBezTo>
                  <a:pt x="7445781" y="0"/>
                  <a:pt x="7491307" y="45525"/>
                  <a:pt x="7491307" y="101600"/>
                </a:cubicBezTo>
                <a:lnTo>
                  <a:pt x="7491307" y="914400"/>
                </a:lnTo>
                <a:cubicBezTo>
                  <a:pt x="7491307" y="970475"/>
                  <a:pt x="7445781" y="1016000"/>
                  <a:pt x="7389707" y="1016000"/>
                </a:cubicBez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1707" y="7620001"/>
            <a:ext cx="47413" cy="1016000"/>
          </a:xfrm>
          <a:custGeom>
            <a:avLst/>
            <a:gdLst/>
            <a:ahLst/>
            <a:cxnLst/>
            <a:rect l="l" t="t" r="r" b="b"/>
            <a:pathLst>
              <a:path w="47413" h="1016000">
                <a:moveTo>
                  <a:pt x="47413" y="0"/>
                </a:moveTo>
                <a:lnTo>
                  <a:pt x="47413" y="0"/>
                </a:lnTo>
                <a:lnTo>
                  <a:pt x="47413" y="1016000"/>
                </a:ln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7" name="Shape 35"/>
          <p:cNvSpPr/>
          <p:nvPr/>
        </p:nvSpPr>
        <p:spPr>
          <a:xfrm>
            <a:off x="758613" y="787400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8" name="Text 36"/>
          <p:cNvSpPr/>
          <p:nvPr/>
        </p:nvSpPr>
        <p:spPr>
          <a:xfrm>
            <a:off x="701463" y="7874001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69813" y="7823201"/>
            <a:ext cx="275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469813" y="8178801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Programming &amp; Database Analysis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53307" y="1778000"/>
            <a:ext cx="7491307" cy="1016000"/>
          </a:xfrm>
          <a:custGeom>
            <a:avLst/>
            <a:gdLst/>
            <a:ahLst/>
            <a:cxnLst/>
            <a:rect l="l" t="t" r="r" b="b"/>
            <a:pathLst>
              <a:path w="7491307" h="1016000">
                <a:moveTo>
                  <a:pt x="47413" y="0"/>
                </a:moveTo>
                <a:lnTo>
                  <a:pt x="7389707" y="0"/>
                </a:lnTo>
                <a:cubicBezTo>
                  <a:pt x="7445781" y="0"/>
                  <a:pt x="7491307" y="45525"/>
                  <a:pt x="7491307" y="101600"/>
                </a:cubicBezTo>
                <a:lnTo>
                  <a:pt x="7491307" y="914400"/>
                </a:lnTo>
                <a:cubicBezTo>
                  <a:pt x="7491307" y="970475"/>
                  <a:pt x="7445781" y="1016000"/>
                  <a:pt x="7389707" y="1016000"/>
                </a:cubicBez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53307" y="1778000"/>
            <a:ext cx="47413" cy="1016000"/>
          </a:xfrm>
          <a:custGeom>
            <a:avLst/>
            <a:gdLst/>
            <a:ahLst/>
            <a:cxnLst/>
            <a:rect l="l" t="t" r="r" b="b"/>
            <a:pathLst>
              <a:path w="47413" h="1016000">
                <a:moveTo>
                  <a:pt x="47413" y="0"/>
                </a:moveTo>
                <a:lnTo>
                  <a:pt x="47413" y="0"/>
                </a:lnTo>
                <a:lnTo>
                  <a:pt x="47413" y="1016000"/>
                </a:ln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8480214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4" name="Text 42"/>
          <p:cNvSpPr/>
          <p:nvPr/>
        </p:nvSpPr>
        <p:spPr>
          <a:xfrm>
            <a:off x="8423064" y="20320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91414" y="1981200"/>
            <a:ext cx="246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Findings &amp; Implications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191414" y="23368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Impact Assessment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53307" y="2946399"/>
            <a:ext cx="7491307" cy="1016000"/>
          </a:xfrm>
          <a:custGeom>
            <a:avLst/>
            <a:gdLst/>
            <a:ahLst/>
            <a:cxnLst/>
            <a:rect l="l" t="t" r="r" b="b"/>
            <a:pathLst>
              <a:path w="7491307" h="1016000">
                <a:moveTo>
                  <a:pt x="47413" y="0"/>
                </a:moveTo>
                <a:lnTo>
                  <a:pt x="7389707" y="0"/>
                </a:lnTo>
                <a:cubicBezTo>
                  <a:pt x="7445781" y="0"/>
                  <a:pt x="7491307" y="45525"/>
                  <a:pt x="7491307" y="101600"/>
                </a:cubicBezTo>
                <a:lnTo>
                  <a:pt x="7491307" y="914400"/>
                </a:lnTo>
                <a:cubicBezTo>
                  <a:pt x="7491307" y="970475"/>
                  <a:pt x="7445781" y="1016000"/>
                  <a:pt x="7389707" y="1016000"/>
                </a:cubicBez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53307" y="2946399"/>
            <a:ext cx="47413" cy="1016000"/>
          </a:xfrm>
          <a:custGeom>
            <a:avLst/>
            <a:gdLst/>
            <a:ahLst/>
            <a:cxnLst/>
            <a:rect l="l" t="t" r="r" b="b"/>
            <a:pathLst>
              <a:path w="47413" h="1016000">
                <a:moveTo>
                  <a:pt x="47413" y="0"/>
                </a:moveTo>
                <a:lnTo>
                  <a:pt x="47413" y="0"/>
                </a:lnTo>
                <a:lnTo>
                  <a:pt x="47413" y="1016000"/>
                </a:ln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9" name="Shape 47"/>
          <p:cNvSpPr/>
          <p:nvPr/>
        </p:nvSpPr>
        <p:spPr>
          <a:xfrm>
            <a:off x="8480214" y="320039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0" name="Text 48"/>
          <p:cNvSpPr/>
          <p:nvPr/>
        </p:nvSpPr>
        <p:spPr>
          <a:xfrm>
            <a:off x="8423064" y="3200399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191414" y="3149599"/>
            <a:ext cx="226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91414" y="3505199"/>
            <a:ext cx="223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Metrics &amp; Visualizations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53307" y="4114799"/>
            <a:ext cx="7491307" cy="1016000"/>
          </a:xfrm>
          <a:custGeom>
            <a:avLst/>
            <a:gdLst/>
            <a:ahLst/>
            <a:cxnLst/>
            <a:rect l="l" t="t" r="r" b="b"/>
            <a:pathLst>
              <a:path w="7491307" h="1016000">
                <a:moveTo>
                  <a:pt x="47413" y="0"/>
                </a:moveTo>
                <a:lnTo>
                  <a:pt x="7389707" y="0"/>
                </a:lnTo>
                <a:cubicBezTo>
                  <a:pt x="7445781" y="0"/>
                  <a:pt x="7491307" y="45525"/>
                  <a:pt x="7491307" y="101600"/>
                </a:cubicBezTo>
                <a:lnTo>
                  <a:pt x="7491307" y="914400"/>
                </a:lnTo>
                <a:cubicBezTo>
                  <a:pt x="7491307" y="970475"/>
                  <a:pt x="7445781" y="1016000"/>
                  <a:pt x="7389707" y="1016000"/>
                </a:cubicBez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53307" y="4114799"/>
            <a:ext cx="47413" cy="1016000"/>
          </a:xfrm>
          <a:custGeom>
            <a:avLst/>
            <a:gdLst/>
            <a:ahLst/>
            <a:cxnLst/>
            <a:rect l="l" t="t" r="r" b="b"/>
            <a:pathLst>
              <a:path w="47413" h="1016000">
                <a:moveTo>
                  <a:pt x="47413" y="0"/>
                </a:moveTo>
                <a:lnTo>
                  <a:pt x="47413" y="0"/>
                </a:lnTo>
                <a:lnTo>
                  <a:pt x="47413" y="1016000"/>
                </a:ln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5" name="Shape 53"/>
          <p:cNvSpPr/>
          <p:nvPr/>
        </p:nvSpPr>
        <p:spPr>
          <a:xfrm>
            <a:off x="8480214" y="436879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6" name="Text 54"/>
          <p:cNvSpPr/>
          <p:nvPr/>
        </p:nvSpPr>
        <p:spPr>
          <a:xfrm>
            <a:off x="8423064" y="4368799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191414" y="4317999"/>
            <a:ext cx="2425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Discussion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91414" y="4673599"/>
            <a:ext cx="240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Themes &amp; Patterns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53307" y="5283201"/>
            <a:ext cx="7491307" cy="1016000"/>
          </a:xfrm>
          <a:custGeom>
            <a:avLst/>
            <a:gdLst/>
            <a:ahLst/>
            <a:cxnLst/>
            <a:rect l="l" t="t" r="r" b="b"/>
            <a:pathLst>
              <a:path w="7491307" h="1016000">
                <a:moveTo>
                  <a:pt x="47413" y="0"/>
                </a:moveTo>
                <a:lnTo>
                  <a:pt x="7389707" y="0"/>
                </a:lnTo>
                <a:cubicBezTo>
                  <a:pt x="7445781" y="0"/>
                  <a:pt x="7491307" y="45525"/>
                  <a:pt x="7491307" y="101600"/>
                </a:cubicBezTo>
                <a:lnTo>
                  <a:pt x="7491307" y="914400"/>
                </a:lnTo>
                <a:cubicBezTo>
                  <a:pt x="7491307" y="970475"/>
                  <a:pt x="7445781" y="1016000"/>
                  <a:pt x="7389707" y="1016000"/>
                </a:cubicBez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3307" y="5283201"/>
            <a:ext cx="47413" cy="1016000"/>
          </a:xfrm>
          <a:custGeom>
            <a:avLst/>
            <a:gdLst/>
            <a:ahLst/>
            <a:cxnLst/>
            <a:rect l="l" t="t" r="r" b="b"/>
            <a:pathLst>
              <a:path w="47413" h="1016000">
                <a:moveTo>
                  <a:pt x="47413" y="0"/>
                </a:moveTo>
                <a:lnTo>
                  <a:pt x="47413" y="0"/>
                </a:lnTo>
                <a:lnTo>
                  <a:pt x="47413" y="1016000"/>
                </a:ln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1" name="Shape 59"/>
          <p:cNvSpPr/>
          <p:nvPr/>
        </p:nvSpPr>
        <p:spPr>
          <a:xfrm>
            <a:off x="8480214" y="553720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2" name="Text 60"/>
          <p:cNvSpPr/>
          <p:nvPr/>
        </p:nvSpPr>
        <p:spPr>
          <a:xfrm>
            <a:off x="8423064" y="5537201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191414" y="5486401"/>
            <a:ext cx="294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Overall Findings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191414" y="5842001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Relevance &amp; Strategic Value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53307" y="6451601"/>
            <a:ext cx="7491307" cy="1016000"/>
          </a:xfrm>
          <a:custGeom>
            <a:avLst/>
            <a:gdLst/>
            <a:ahLst/>
            <a:cxnLst/>
            <a:rect l="l" t="t" r="r" b="b"/>
            <a:pathLst>
              <a:path w="7491307" h="1016000">
                <a:moveTo>
                  <a:pt x="47413" y="0"/>
                </a:moveTo>
                <a:lnTo>
                  <a:pt x="7389707" y="0"/>
                </a:lnTo>
                <a:cubicBezTo>
                  <a:pt x="7445781" y="0"/>
                  <a:pt x="7491307" y="45525"/>
                  <a:pt x="7491307" y="101600"/>
                </a:cubicBezTo>
                <a:lnTo>
                  <a:pt x="7491307" y="914400"/>
                </a:lnTo>
                <a:cubicBezTo>
                  <a:pt x="7491307" y="970475"/>
                  <a:pt x="7445781" y="1016000"/>
                  <a:pt x="7389707" y="1016000"/>
                </a:cubicBez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253307" y="6451601"/>
            <a:ext cx="47413" cy="1016000"/>
          </a:xfrm>
          <a:custGeom>
            <a:avLst/>
            <a:gdLst/>
            <a:ahLst/>
            <a:cxnLst/>
            <a:rect l="l" t="t" r="r" b="b"/>
            <a:pathLst>
              <a:path w="47413" h="1016000">
                <a:moveTo>
                  <a:pt x="47413" y="0"/>
                </a:moveTo>
                <a:lnTo>
                  <a:pt x="47413" y="0"/>
                </a:lnTo>
                <a:lnTo>
                  <a:pt x="47413" y="1016000"/>
                </a:lnTo>
                <a:lnTo>
                  <a:pt x="47413" y="1016000"/>
                </a:lnTo>
                <a:cubicBezTo>
                  <a:pt x="21228" y="1016000"/>
                  <a:pt x="0" y="994772"/>
                  <a:pt x="0" y="9685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7" name="Shape 65"/>
          <p:cNvSpPr/>
          <p:nvPr/>
        </p:nvSpPr>
        <p:spPr>
          <a:xfrm>
            <a:off x="8480214" y="670560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8" name="Text 66"/>
          <p:cNvSpPr/>
          <p:nvPr/>
        </p:nvSpPr>
        <p:spPr>
          <a:xfrm>
            <a:off x="8423064" y="6705601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191414" y="6654801"/>
            <a:ext cx="234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191414" y="7010401"/>
            <a:ext cx="232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Takeaways &amp; Next Steps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3267691" y="8839201"/>
            <a:ext cx="2476500" cy="508000"/>
          </a:xfrm>
          <a:custGeom>
            <a:avLst/>
            <a:gdLst/>
            <a:ahLst/>
            <a:cxnLst/>
            <a:rect l="l" t="t" r="r" b="b"/>
            <a:pathLst>
              <a:path w="2476500" h="508000">
                <a:moveTo>
                  <a:pt x="101600" y="0"/>
                </a:moveTo>
                <a:lnTo>
                  <a:pt x="2374900" y="0"/>
                </a:lnTo>
                <a:cubicBezTo>
                  <a:pt x="2430975" y="0"/>
                  <a:pt x="2476500" y="45525"/>
                  <a:pt x="2476500" y="101600"/>
                </a:cubicBezTo>
                <a:lnTo>
                  <a:pt x="2476500" y="406400"/>
                </a:lnTo>
                <a:cubicBezTo>
                  <a:pt x="2476500" y="462475"/>
                  <a:pt x="2430975" y="508000"/>
                  <a:pt x="23749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3470891" y="9001760"/>
            <a:ext cx="2162810" cy="196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Duration: ~15 minutes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08000"/>
            <a:ext cx="4229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1200" y="1117600"/>
            <a:ext cx="151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insights from our comprehensive technology landscape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1387" y="2434167"/>
            <a:ext cx="7487073" cy="2292773"/>
          </a:xfrm>
          <a:custGeom>
            <a:avLst/>
            <a:gdLst/>
            <a:ahLst/>
            <a:cxnLst/>
            <a:rect l="l" t="t" r="r" b="b"/>
            <a:pathLst>
              <a:path w="7487073" h="2292773">
                <a:moveTo>
                  <a:pt x="152401" y="0"/>
                </a:moveTo>
                <a:lnTo>
                  <a:pt x="7334673" y="0"/>
                </a:lnTo>
                <a:cubicBezTo>
                  <a:pt x="7418841" y="0"/>
                  <a:pt x="7487073" y="68232"/>
                  <a:pt x="7487073" y="152401"/>
                </a:cubicBezTo>
                <a:lnTo>
                  <a:pt x="7487073" y="2140373"/>
                </a:lnTo>
                <a:cubicBezTo>
                  <a:pt x="7487073" y="2224541"/>
                  <a:pt x="7418841" y="2292773"/>
                  <a:pt x="7334673" y="2292773"/>
                </a:cubicBezTo>
                <a:lnTo>
                  <a:pt x="152401" y="2292773"/>
                </a:lnTo>
                <a:cubicBezTo>
                  <a:pt x="68232" y="2292773"/>
                  <a:pt x="0" y="2224541"/>
                  <a:pt x="0" y="2140373"/>
                </a:cubicBezTo>
                <a:lnTo>
                  <a:pt x="0" y="152401"/>
                </a:lnTo>
                <a:cubicBezTo>
                  <a:pt x="0" y="68288"/>
                  <a:pt x="68288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773" y="2691554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873" y="2894754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09550" y="0"/>
                </a:moveTo>
                <a:cubicBezTo>
                  <a:pt x="209550" y="-10537"/>
                  <a:pt x="201037" y="-19050"/>
                  <a:pt x="190500" y="-19050"/>
                </a:cubicBezTo>
                <a:cubicBezTo>
                  <a:pt x="179963" y="-19050"/>
                  <a:pt x="171450" y="-10537"/>
                  <a:pt x="171450" y="0"/>
                </a:cubicBezTo>
                <a:lnTo>
                  <a:pt x="171450" y="38100"/>
                </a:lnTo>
                <a:lnTo>
                  <a:pt x="114300" y="38100"/>
                </a:lnTo>
                <a:cubicBezTo>
                  <a:pt x="82748" y="38100"/>
                  <a:pt x="57150" y="63698"/>
                  <a:pt x="57150" y="95250"/>
                </a:cubicBezTo>
                <a:lnTo>
                  <a:pt x="57150" y="228600"/>
                </a:lnTo>
                <a:cubicBezTo>
                  <a:pt x="57150" y="260152"/>
                  <a:pt x="82748" y="285750"/>
                  <a:pt x="114300" y="285750"/>
                </a:cubicBezTo>
                <a:lnTo>
                  <a:pt x="266700" y="285750"/>
                </a:lnTo>
                <a:cubicBezTo>
                  <a:pt x="298252" y="285750"/>
                  <a:pt x="323850" y="260152"/>
                  <a:pt x="323850" y="228600"/>
                </a:cubicBezTo>
                <a:lnTo>
                  <a:pt x="323850" y="95250"/>
                </a:lnTo>
                <a:cubicBezTo>
                  <a:pt x="323850" y="63698"/>
                  <a:pt x="298252" y="38100"/>
                  <a:pt x="266700" y="38100"/>
                </a:cubicBezTo>
                <a:lnTo>
                  <a:pt x="209550" y="38100"/>
                </a:lnTo>
                <a:lnTo>
                  <a:pt x="209550" y="0"/>
                </a:lnTo>
                <a:close/>
                <a:moveTo>
                  <a:pt x="95250" y="219075"/>
                </a:moveTo>
                <a:cubicBezTo>
                  <a:pt x="95250" y="211157"/>
                  <a:pt x="101620" y="204787"/>
                  <a:pt x="109537" y="204787"/>
                </a:cubicBezTo>
                <a:lnTo>
                  <a:pt x="128588" y="204787"/>
                </a:lnTo>
                <a:cubicBezTo>
                  <a:pt x="136505" y="204787"/>
                  <a:pt x="142875" y="211157"/>
                  <a:pt x="142875" y="219075"/>
                </a:cubicBezTo>
                <a:cubicBezTo>
                  <a:pt x="142875" y="226993"/>
                  <a:pt x="136505" y="233363"/>
                  <a:pt x="128588" y="233363"/>
                </a:cubicBezTo>
                <a:lnTo>
                  <a:pt x="109537" y="233363"/>
                </a:lnTo>
                <a:cubicBezTo>
                  <a:pt x="101620" y="233363"/>
                  <a:pt x="95250" y="226993"/>
                  <a:pt x="95250" y="219075"/>
                </a:cubicBezTo>
                <a:close/>
                <a:moveTo>
                  <a:pt x="166688" y="219075"/>
                </a:moveTo>
                <a:cubicBezTo>
                  <a:pt x="166688" y="211157"/>
                  <a:pt x="173057" y="204787"/>
                  <a:pt x="180975" y="204787"/>
                </a:cubicBezTo>
                <a:lnTo>
                  <a:pt x="200025" y="204787"/>
                </a:lnTo>
                <a:cubicBezTo>
                  <a:pt x="207943" y="204787"/>
                  <a:pt x="214313" y="211157"/>
                  <a:pt x="214313" y="219075"/>
                </a:cubicBezTo>
                <a:cubicBezTo>
                  <a:pt x="214313" y="226993"/>
                  <a:pt x="207943" y="233363"/>
                  <a:pt x="200025" y="233363"/>
                </a:cubicBezTo>
                <a:lnTo>
                  <a:pt x="180975" y="233363"/>
                </a:lnTo>
                <a:cubicBezTo>
                  <a:pt x="173057" y="233363"/>
                  <a:pt x="166688" y="226993"/>
                  <a:pt x="166688" y="219075"/>
                </a:cubicBezTo>
                <a:close/>
                <a:moveTo>
                  <a:pt x="238125" y="219075"/>
                </a:moveTo>
                <a:cubicBezTo>
                  <a:pt x="238125" y="211157"/>
                  <a:pt x="244495" y="204787"/>
                  <a:pt x="252413" y="204787"/>
                </a:cubicBezTo>
                <a:lnTo>
                  <a:pt x="271463" y="204787"/>
                </a:lnTo>
                <a:cubicBezTo>
                  <a:pt x="279380" y="204787"/>
                  <a:pt x="285750" y="211157"/>
                  <a:pt x="285750" y="219075"/>
                </a:cubicBezTo>
                <a:cubicBezTo>
                  <a:pt x="285750" y="226993"/>
                  <a:pt x="279380" y="233363"/>
                  <a:pt x="271463" y="233363"/>
                </a:cubicBezTo>
                <a:lnTo>
                  <a:pt x="252413" y="233363"/>
                </a:lnTo>
                <a:cubicBezTo>
                  <a:pt x="244495" y="233363"/>
                  <a:pt x="238125" y="226993"/>
                  <a:pt x="238125" y="219075"/>
                </a:cubicBezTo>
                <a:close/>
                <a:moveTo>
                  <a:pt x="133350" y="104775"/>
                </a:moveTo>
                <a:cubicBezTo>
                  <a:pt x="149121" y="104775"/>
                  <a:pt x="161925" y="117579"/>
                  <a:pt x="161925" y="133350"/>
                </a:cubicBezTo>
                <a:cubicBezTo>
                  <a:pt x="161925" y="149121"/>
                  <a:pt x="149121" y="161925"/>
                  <a:pt x="133350" y="161925"/>
                </a:cubicBezTo>
                <a:cubicBezTo>
                  <a:pt x="117579" y="161925"/>
                  <a:pt x="104775" y="149121"/>
                  <a:pt x="104775" y="133350"/>
                </a:cubicBezTo>
                <a:cubicBezTo>
                  <a:pt x="104775" y="117579"/>
                  <a:pt x="117579" y="104775"/>
                  <a:pt x="133350" y="104775"/>
                </a:cubicBezTo>
                <a:close/>
                <a:moveTo>
                  <a:pt x="219075" y="133350"/>
                </a:moveTo>
                <a:cubicBezTo>
                  <a:pt x="219075" y="117579"/>
                  <a:pt x="231879" y="104775"/>
                  <a:pt x="247650" y="104775"/>
                </a:cubicBezTo>
                <a:cubicBezTo>
                  <a:pt x="263421" y="104775"/>
                  <a:pt x="276225" y="117579"/>
                  <a:pt x="276225" y="133350"/>
                </a:cubicBezTo>
                <a:cubicBezTo>
                  <a:pt x="276225" y="149121"/>
                  <a:pt x="263421" y="161925"/>
                  <a:pt x="247650" y="161925"/>
                </a:cubicBezTo>
                <a:cubicBezTo>
                  <a:pt x="231879" y="161925"/>
                  <a:pt x="219075" y="149121"/>
                  <a:pt x="219075" y="133350"/>
                </a:cubicBezTo>
                <a:close/>
                <a:moveTo>
                  <a:pt x="38100" y="133350"/>
                </a:moveTo>
                <a:cubicBezTo>
                  <a:pt x="38100" y="122813"/>
                  <a:pt x="29587" y="114300"/>
                  <a:pt x="19050" y="114300"/>
                </a:cubicBezTo>
                <a:cubicBezTo>
                  <a:pt x="8513" y="114300"/>
                  <a:pt x="0" y="122813"/>
                  <a:pt x="0" y="133350"/>
                </a:cubicBezTo>
                <a:lnTo>
                  <a:pt x="0" y="190500"/>
                </a:lnTo>
                <a:cubicBezTo>
                  <a:pt x="0" y="201037"/>
                  <a:pt x="8513" y="209550"/>
                  <a:pt x="19050" y="209550"/>
                </a:cubicBezTo>
                <a:cubicBezTo>
                  <a:pt x="29587" y="209550"/>
                  <a:pt x="38100" y="201037"/>
                  <a:pt x="38100" y="190500"/>
                </a:cubicBezTo>
                <a:lnTo>
                  <a:pt x="38100" y="133350"/>
                </a:lnTo>
                <a:close/>
                <a:moveTo>
                  <a:pt x="361950" y="114300"/>
                </a:moveTo>
                <a:cubicBezTo>
                  <a:pt x="351413" y="114300"/>
                  <a:pt x="342900" y="122813"/>
                  <a:pt x="342900" y="133350"/>
                </a:cubicBezTo>
                <a:lnTo>
                  <a:pt x="342900" y="190500"/>
                </a:lnTo>
                <a:cubicBezTo>
                  <a:pt x="342900" y="201037"/>
                  <a:pt x="351413" y="209550"/>
                  <a:pt x="361950" y="209550"/>
                </a:cubicBezTo>
                <a:cubicBezTo>
                  <a:pt x="372487" y="209550"/>
                  <a:pt x="381000" y="201037"/>
                  <a:pt x="381000" y="190500"/>
                </a:cubicBezTo>
                <a:lnTo>
                  <a:pt x="381000" y="133350"/>
                </a:lnTo>
                <a:cubicBezTo>
                  <a:pt x="381000" y="122813"/>
                  <a:pt x="372487" y="114300"/>
                  <a:pt x="361950" y="1143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1683173" y="2691554"/>
            <a:ext cx="6184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Dominates AI/ML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83173" y="3148754"/>
            <a:ext cx="61595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45.7%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recruiters actively seek Python developers, driven by explosive AI/ML demand. Python has overtaken JavaScript as the most-used language on GitHub after a decade of JavaScript leadership.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58387" y="2434167"/>
            <a:ext cx="7487073" cy="2292773"/>
          </a:xfrm>
          <a:custGeom>
            <a:avLst/>
            <a:gdLst/>
            <a:ahLst/>
            <a:cxnLst/>
            <a:rect l="l" t="t" r="r" b="b"/>
            <a:pathLst>
              <a:path w="7487073" h="2292773">
                <a:moveTo>
                  <a:pt x="152401" y="0"/>
                </a:moveTo>
                <a:lnTo>
                  <a:pt x="7334673" y="0"/>
                </a:lnTo>
                <a:cubicBezTo>
                  <a:pt x="7418841" y="0"/>
                  <a:pt x="7487073" y="68232"/>
                  <a:pt x="7487073" y="152401"/>
                </a:cubicBezTo>
                <a:lnTo>
                  <a:pt x="7487073" y="2140373"/>
                </a:lnTo>
                <a:cubicBezTo>
                  <a:pt x="7487073" y="2224541"/>
                  <a:pt x="7418841" y="2292773"/>
                  <a:pt x="7334673" y="2292773"/>
                </a:cubicBezTo>
                <a:lnTo>
                  <a:pt x="152401" y="2292773"/>
                </a:lnTo>
                <a:cubicBezTo>
                  <a:pt x="68232" y="2292773"/>
                  <a:pt x="0" y="2224541"/>
                  <a:pt x="0" y="2140373"/>
                </a:cubicBezTo>
                <a:lnTo>
                  <a:pt x="0" y="152401"/>
                </a:lnTo>
                <a:cubicBezTo>
                  <a:pt x="0" y="68288"/>
                  <a:pt x="68288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15774" y="2691554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38024" y="2894754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9430174" y="2691554"/>
            <a:ext cx="6184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 Leads Databases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430174" y="3148754"/>
            <a:ext cx="6159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55.6%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developer adoption makes PostgreSQL the most admired database, with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+6.9%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YoY growth—the largest single-year expansion among top-tier databases.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1387" y="4987713"/>
            <a:ext cx="7487073" cy="1962573"/>
          </a:xfrm>
          <a:custGeom>
            <a:avLst/>
            <a:gdLst/>
            <a:ahLst/>
            <a:cxnLst/>
            <a:rect l="l" t="t" r="r" b="b"/>
            <a:pathLst>
              <a:path w="7487073" h="1962573">
                <a:moveTo>
                  <a:pt x="152394" y="0"/>
                </a:moveTo>
                <a:lnTo>
                  <a:pt x="7334680" y="0"/>
                </a:lnTo>
                <a:cubicBezTo>
                  <a:pt x="7418788" y="0"/>
                  <a:pt x="7487073" y="68285"/>
                  <a:pt x="7487073" y="152394"/>
                </a:cubicBezTo>
                <a:lnTo>
                  <a:pt x="7487073" y="1810180"/>
                </a:lnTo>
                <a:cubicBezTo>
                  <a:pt x="7487073" y="1894288"/>
                  <a:pt x="7418788" y="1962573"/>
                  <a:pt x="7334680" y="1962573"/>
                </a:cubicBezTo>
                <a:lnTo>
                  <a:pt x="152394" y="1962573"/>
                </a:lnTo>
                <a:cubicBezTo>
                  <a:pt x="68285" y="1962573"/>
                  <a:pt x="0" y="1894288"/>
                  <a:pt x="0" y="1810180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773" y="5245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52923" y="54483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0" y="200025"/>
                </a:moveTo>
                <a:cubicBezTo>
                  <a:pt x="0" y="247352"/>
                  <a:pt x="38398" y="285750"/>
                  <a:pt x="85725" y="285750"/>
                </a:cubicBezTo>
                <a:lnTo>
                  <a:pt x="266700" y="285750"/>
                </a:lnTo>
                <a:cubicBezTo>
                  <a:pt x="308789" y="285750"/>
                  <a:pt x="342900" y="251639"/>
                  <a:pt x="342900" y="209550"/>
                </a:cubicBezTo>
                <a:cubicBezTo>
                  <a:pt x="342900" y="178832"/>
                  <a:pt x="324743" y="152340"/>
                  <a:pt x="298549" y="140315"/>
                </a:cubicBezTo>
                <a:cubicBezTo>
                  <a:pt x="302538" y="132517"/>
                  <a:pt x="304800" y="123646"/>
                  <a:pt x="304800" y="114300"/>
                </a:cubicBezTo>
                <a:cubicBezTo>
                  <a:pt x="304800" y="82748"/>
                  <a:pt x="279202" y="57150"/>
                  <a:pt x="247650" y="57150"/>
                </a:cubicBezTo>
                <a:cubicBezTo>
                  <a:pt x="237113" y="57150"/>
                  <a:pt x="227290" y="60007"/>
                  <a:pt x="218837" y="64949"/>
                </a:cubicBezTo>
                <a:cubicBezTo>
                  <a:pt x="204490" y="37683"/>
                  <a:pt x="175855" y="19050"/>
                  <a:pt x="142875" y="19050"/>
                </a:cubicBezTo>
                <a:cubicBezTo>
                  <a:pt x="95548" y="19050"/>
                  <a:pt x="57150" y="57448"/>
                  <a:pt x="57150" y="104775"/>
                </a:cubicBezTo>
                <a:cubicBezTo>
                  <a:pt x="57150" y="109537"/>
                  <a:pt x="57567" y="114240"/>
                  <a:pt x="58281" y="118765"/>
                </a:cubicBezTo>
                <a:cubicBezTo>
                  <a:pt x="24408" y="130195"/>
                  <a:pt x="0" y="162282"/>
                  <a:pt x="0" y="20002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1683173" y="5245100"/>
            <a:ext cx="6184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Cloud-Native Surge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83173" y="5702300"/>
            <a:ext cx="6159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Snowflake and Databricks show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49%+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growth, signaling accelerated enterprise migration to cloud-native data platforms with AI integration capabilities.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58387" y="4987713"/>
            <a:ext cx="7487073" cy="1962573"/>
          </a:xfrm>
          <a:custGeom>
            <a:avLst/>
            <a:gdLst/>
            <a:ahLst/>
            <a:cxnLst/>
            <a:rect l="l" t="t" r="r" b="b"/>
            <a:pathLst>
              <a:path w="7487073" h="1962573">
                <a:moveTo>
                  <a:pt x="152394" y="0"/>
                </a:moveTo>
                <a:lnTo>
                  <a:pt x="7334680" y="0"/>
                </a:lnTo>
                <a:cubicBezTo>
                  <a:pt x="7418788" y="0"/>
                  <a:pt x="7487073" y="68285"/>
                  <a:pt x="7487073" y="152394"/>
                </a:cubicBezTo>
                <a:lnTo>
                  <a:pt x="7487073" y="1810180"/>
                </a:lnTo>
                <a:cubicBezTo>
                  <a:pt x="7487073" y="1894288"/>
                  <a:pt x="7418788" y="1962573"/>
                  <a:pt x="7334680" y="1962573"/>
                </a:cubicBezTo>
                <a:lnTo>
                  <a:pt x="152394" y="1962573"/>
                </a:lnTo>
                <a:cubicBezTo>
                  <a:pt x="68285" y="1962573"/>
                  <a:pt x="0" y="1894288"/>
                  <a:pt x="0" y="1810180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15774" y="5245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99924" y="54483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9430174" y="5245100"/>
            <a:ext cx="6184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TypeScript's Rapid Ascent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30174" y="5702300"/>
            <a:ext cx="6159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TypeScript is now used by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33%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developers, becoming the 2nd fastest-growing language. It has overtaken Python as the most-used language on GitHub.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1387" y="7914639"/>
            <a:ext cx="15234073" cy="717973"/>
          </a:xfrm>
          <a:custGeom>
            <a:avLst/>
            <a:gdLst/>
            <a:ahLst/>
            <a:cxnLst/>
            <a:rect l="l" t="t" r="r" b="b"/>
            <a:pathLst>
              <a:path w="15234073" h="717973">
                <a:moveTo>
                  <a:pt x="101600" y="0"/>
                </a:moveTo>
                <a:lnTo>
                  <a:pt x="15132473" y="0"/>
                </a:lnTo>
                <a:cubicBezTo>
                  <a:pt x="15188585" y="0"/>
                  <a:pt x="15234073" y="45488"/>
                  <a:pt x="15234073" y="101600"/>
                </a:cubicBezTo>
                <a:lnTo>
                  <a:pt x="15234073" y="616373"/>
                </a:lnTo>
                <a:cubicBezTo>
                  <a:pt x="15234073" y="672485"/>
                  <a:pt x="15188585" y="717973"/>
                  <a:pt x="15132473" y="717973"/>
                </a:cubicBezTo>
                <a:lnTo>
                  <a:pt x="101600" y="717973"/>
                </a:lnTo>
                <a:cubicBezTo>
                  <a:pt x="45526" y="717973"/>
                  <a:pt x="0" y="672448"/>
                  <a:pt x="0" y="616373"/>
                </a:cubicBezTo>
                <a:lnTo>
                  <a:pt x="0" y="101600"/>
                </a:lnTo>
                <a:cubicBezTo>
                  <a:pt x="0" y="45526"/>
                  <a:pt x="45526" y="0"/>
                  <a:pt x="1016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6773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4173" y="8121227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7" name="Text 25"/>
          <p:cNvSpPr/>
          <p:nvPr/>
        </p:nvSpPr>
        <p:spPr>
          <a:xfrm>
            <a:off x="1302173" y="8121227"/>
            <a:ext cx="1324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Imperative: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Organizations must align technology investments with these trends to maintain competitive advantage in the AI-driven economy.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3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08003"/>
            <a:ext cx="269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1200" y="1117603"/>
            <a:ext cx="151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framework behind this strategic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700110"/>
            <a:ext cx="4914900" cy="5700607"/>
          </a:xfrm>
          <a:custGeom>
            <a:avLst/>
            <a:gdLst/>
            <a:ahLst/>
            <a:cxnLst/>
            <a:rect l="l" t="t" r="r" b="b"/>
            <a:pathLst>
              <a:path w="4914900" h="5700607">
                <a:moveTo>
                  <a:pt x="47413" y="0"/>
                </a:moveTo>
                <a:lnTo>
                  <a:pt x="4867487" y="0"/>
                </a:lnTo>
                <a:cubicBezTo>
                  <a:pt x="4893672" y="0"/>
                  <a:pt x="4914900" y="21228"/>
                  <a:pt x="4914900" y="47413"/>
                </a:cubicBezTo>
                <a:lnTo>
                  <a:pt x="4914900" y="5548196"/>
                </a:lnTo>
                <a:cubicBezTo>
                  <a:pt x="4914900" y="5632370"/>
                  <a:pt x="4846663" y="5700607"/>
                  <a:pt x="4762489" y="5700607"/>
                </a:cubicBezTo>
                <a:lnTo>
                  <a:pt x="152411" y="5700607"/>
                </a:lnTo>
                <a:cubicBezTo>
                  <a:pt x="68237" y="5700607"/>
                  <a:pt x="0" y="5632370"/>
                  <a:pt x="0" y="5548196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54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508000" y="1700110"/>
            <a:ext cx="4914900" cy="47413"/>
          </a:xfrm>
          <a:custGeom>
            <a:avLst/>
            <a:gdLst/>
            <a:ahLst/>
            <a:cxnLst/>
            <a:rect l="l" t="t" r="r" b="b"/>
            <a:pathLst>
              <a:path w="4914900" h="47413">
                <a:moveTo>
                  <a:pt x="47413" y="0"/>
                </a:moveTo>
                <a:lnTo>
                  <a:pt x="4867487" y="0"/>
                </a:lnTo>
                <a:cubicBezTo>
                  <a:pt x="4893672" y="0"/>
                  <a:pt x="4914900" y="21228"/>
                  <a:pt x="4914900" y="47413"/>
                </a:cubicBezTo>
                <a:lnTo>
                  <a:pt x="4914900" y="47413"/>
                </a:lnTo>
                <a:lnTo>
                  <a:pt x="0" y="47413"/>
                </a:ln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97781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Shape 6"/>
          <p:cNvSpPr/>
          <p:nvPr/>
        </p:nvSpPr>
        <p:spPr>
          <a:xfrm>
            <a:off x="939800" y="215561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250" y="127000"/>
                </a:moveTo>
                <a:cubicBezTo>
                  <a:pt x="222250" y="74430"/>
                  <a:pt x="179570" y="31750"/>
                  <a:pt x="127000" y="31750"/>
                </a:cubicBezTo>
                <a:cubicBezTo>
                  <a:pt x="74430" y="31750"/>
                  <a:pt x="31750" y="74430"/>
                  <a:pt x="31750" y="127000"/>
                </a:cubicBezTo>
                <a:cubicBezTo>
                  <a:pt x="31750" y="179570"/>
                  <a:pt x="74430" y="222250"/>
                  <a:pt x="127000" y="222250"/>
                </a:cubicBezTo>
                <a:cubicBezTo>
                  <a:pt x="179570" y="222250"/>
                  <a:pt x="222250" y="179570"/>
                  <a:pt x="222250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27000" y="166688"/>
                </a:moveTo>
                <a:cubicBezTo>
                  <a:pt x="148904" y="166688"/>
                  <a:pt x="166688" y="148904"/>
                  <a:pt x="166688" y="127000"/>
                </a:cubicBezTo>
                <a:cubicBezTo>
                  <a:pt x="166688" y="105096"/>
                  <a:pt x="148904" y="87313"/>
                  <a:pt x="127000" y="87313"/>
                </a:cubicBezTo>
                <a:cubicBezTo>
                  <a:pt x="105096" y="87313"/>
                  <a:pt x="87313" y="105096"/>
                  <a:pt x="87313" y="127000"/>
                </a:cubicBezTo>
                <a:cubicBezTo>
                  <a:pt x="87313" y="148904"/>
                  <a:pt x="105096" y="166688"/>
                  <a:pt x="127000" y="166688"/>
                </a:cubicBezTo>
                <a:close/>
                <a:moveTo>
                  <a:pt x="127000" y="55563"/>
                </a:moveTo>
                <a:cubicBezTo>
                  <a:pt x="166427" y="55563"/>
                  <a:pt x="198438" y="87573"/>
                  <a:pt x="198438" y="127000"/>
                </a:cubicBezTo>
                <a:cubicBezTo>
                  <a:pt x="198438" y="166427"/>
                  <a:pt x="166427" y="198438"/>
                  <a:pt x="127000" y="198438"/>
                </a:cubicBezTo>
                <a:cubicBezTo>
                  <a:pt x="87573" y="198438"/>
                  <a:pt x="55563" y="166427"/>
                  <a:pt x="55563" y="127000"/>
                </a:cubicBezTo>
                <a:cubicBezTo>
                  <a:pt x="55563" y="87573"/>
                  <a:pt x="87573" y="55563"/>
                  <a:pt x="127000" y="55563"/>
                </a:cubicBezTo>
                <a:close/>
                <a:moveTo>
                  <a:pt x="111125" y="127000"/>
                </a:moveTo>
                <a:cubicBezTo>
                  <a:pt x="111125" y="118238"/>
                  <a:pt x="118238" y="111125"/>
                  <a:pt x="127000" y="111125"/>
                </a:cubicBezTo>
                <a:cubicBezTo>
                  <a:pt x="135762" y="111125"/>
                  <a:pt x="142875" y="118238"/>
                  <a:pt x="142875" y="127000"/>
                </a:cubicBezTo>
                <a:cubicBezTo>
                  <a:pt x="142875" y="135762"/>
                  <a:pt x="135762" y="142875"/>
                  <a:pt x="127000" y="142875"/>
                </a:cubicBezTo>
                <a:cubicBezTo>
                  <a:pt x="118238" y="142875"/>
                  <a:pt x="111125" y="135762"/>
                  <a:pt x="111125" y="12700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2079414"/>
            <a:ext cx="127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890435"/>
            <a:ext cx="4508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report analyzes current programming language and database trends to inform strategic technology stack decisions.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7400" y="513503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117600" y="5084235"/>
            <a:ext cx="300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emerging technology patterns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7400" y="549063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1117600" y="5439835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 market demand and adoption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7400" y="584623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117600" y="5795435"/>
            <a:ext cx="267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 business impact and ROI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72667" y="1700110"/>
            <a:ext cx="4914900" cy="5700607"/>
          </a:xfrm>
          <a:custGeom>
            <a:avLst/>
            <a:gdLst/>
            <a:ahLst/>
            <a:cxnLst/>
            <a:rect l="l" t="t" r="r" b="b"/>
            <a:pathLst>
              <a:path w="4914900" h="5700607">
                <a:moveTo>
                  <a:pt x="47413" y="0"/>
                </a:moveTo>
                <a:lnTo>
                  <a:pt x="4867487" y="0"/>
                </a:lnTo>
                <a:cubicBezTo>
                  <a:pt x="4893672" y="0"/>
                  <a:pt x="4914900" y="21228"/>
                  <a:pt x="4914900" y="47413"/>
                </a:cubicBezTo>
                <a:lnTo>
                  <a:pt x="4914900" y="5548196"/>
                </a:lnTo>
                <a:cubicBezTo>
                  <a:pt x="4914900" y="5632370"/>
                  <a:pt x="4846663" y="5700607"/>
                  <a:pt x="4762489" y="5700607"/>
                </a:cubicBezTo>
                <a:lnTo>
                  <a:pt x="152411" y="5700607"/>
                </a:lnTo>
                <a:cubicBezTo>
                  <a:pt x="68237" y="5700607"/>
                  <a:pt x="0" y="5632370"/>
                  <a:pt x="0" y="5548196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54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5672667" y="1700110"/>
            <a:ext cx="4914900" cy="47413"/>
          </a:xfrm>
          <a:custGeom>
            <a:avLst/>
            <a:gdLst/>
            <a:ahLst/>
            <a:cxnLst/>
            <a:rect l="l" t="t" r="r" b="b"/>
            <a:pathLst>
              <a:path w="4914900" h="47413">
                <a:moveTo>
                  <a:pt x="47413" y="0"/>
                </a:moveTo>
                <a:lnTo>
                  <a:pt x="4867487" y="0"/>
                </a:lnTo>
                <a:cubicBezTo>
                  <a:pt x="4893672" y="0"/>
                  <a:pt x="4914900" y="21228"/>
                  <a:pt x="4914900" y="47413"/>
                </a:cubicBezTo>
                <a:lnTo>
                  <a:pt x="4914900" y="47413"/>
                </a:lnTo>
                <a:lnTo>
                  <a:pt x="0" y="47413"/>
                </a:ln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26667" y="197781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0" name="Shape 18"/>
          <p:cNvSpPr/>
          <p:nvPr/>
        </p:nvSpPr>
        <p:spPr>
          <a:xfrm>
            <a:off x="6072717" y="2155614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1" name="Text 19"/>
          <p:cNvSpPr/>
          <p:nvPr/>
        </p:nvSpPr>
        <p:spPr>
          <a:xfrm>
            <a:off x="6688667" y="2079414"/>
            <a:ext cx="142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26667" y="4055535"/>
            <a:ext cx="4508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for decision-makers responsible for technology investments and team development.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64767" y="496993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88900" y="98425"/>
                </a:moveTo>
                <a:cubicBezTo>
                  <a:pt x="62615" y="98425"/>
                  <a:pt x="41275" y="77085"/>
                  <a:pt x="41275" y="50800"/>
                </a:cubicBezTo>
                <a:cubicBezTo>
                  <a:pt x="41275" y="24515"/>
                  <a:pt x="62615" y="3175"/>
                  <a:pt x="88900" y="3175"/>
                </a:cubicBezTo>
                <a:cubicBezTo>
                  <a:pt x="115185" y="3175"/>
                  <a:pt x="136525" y="24515"/>
                  <a:pt x="136525" y="50800"/>
                </a:cubicBezTo>
                <a:cubicBezTo>
                  <a:pt x="136525" y="77085"/>
                  <a:pt x="115185" y="98425"/>
                  <a:pt x="88900" y="98425"/>
                </a:cubicBezTo>
                <a:close/>
                <a:moveTo>
                  <a:pt x="76795" y="120650"/>
                </a:moveTo>
                <a:lnTo>
                  <a:pt x="101005" y="120650"/>
                </a:lnTo>
                <a:cubicBezTo>
                  <a:pt x="104854" y="120650"/>
                  <a:pt x="107950" y="123746"/>
                  <a:pt x="107950" y="127595"/>
                </a:cubicBezTo>
                <a:cubicBezTo>
                  <a:pt x="107950" y="129262"/>
                  <a:pt x="107355" y="130850"/>
                  <a:pt x="106283" y="132120"/>
                </a:cubicBezTo>
                <a:lnTo>
                  <a:pt x="95409" y="144820"/>
                </a:lnTo>
                <a:lnTo>
                  <a:pt x="107712" y="190500"/>
                </a:lnTo>
                <a:lnTo>
                  <a:pt x="107950" y="190500"/>
                </a:lnTo>
                <a:lnTo>
                  <a:pt x="121682" y="135533"/>
                </a:lnTo>
                <a:cubicBezTo>
                  <a:pt x="122555" y="132080"/>
                  <a:pt x="126087" y="129977"/>
                  <a:pt x="129421" y="131247"/>
                </a:cubicBezTo>
                <a:cubicBezTo>
                  <a:pt x="153988" y="140613"/>
                  <a:pt x="171450" y="164425"/>
                  <a:pt x="171450" y="192286"/>
                </a:cubicBezTo>
                <a:cubicBezTo>
                  <a:pt x="171450" y="198279"/>
                  <a:pt x="166568" y="203160"/>
                  <a:pt x="160576" y="203160"/>
                </a:cubicBezTo>
                <a:lnTo>
                  <a:pt x="17224" y="203200"/>
                </a:lnTo>
                <a:cubicBezTo>
                  <a:pt x="11232" y="203200"/>
                  <a:pt x="6350" y="198318"/>
                  <a:pt x="6350" y="192326"/>
                </a:cubicBezTo>
                <a:cubicBezTo>
                  <a:pt x="6350" y="164465"/>
                  <a:pt x="23813" y="140653"/>
                  <a:pt x="48379" y="131286"/>
                </a:cubicBezTo>
                <a:cubicBezTo>
                  <a:pt x="51713" y="130016"/>
                  <a:pt x="55245" y="132120"/>
                  <a:pt x="56118" y="135573"/>
                </a:cubicBezTo>
                <a:lnTo>
                  <a:pt x="69850" y="190540"/>
                </a:lnTo>
                <a:lnTo>
                  <a:pt x="70088" y="190540"/>
                </a:lnTo>
                <a:lnTo>
                  <a:pt x="82391" y="144859"/>
                </a:lnTo>
                <a:lnTo>
                  <a:pt x="71517" y="132159"/>
                </a:lnTo>
                <a:cubicBezTo>
                  <a:pt x="70445" y="130889"/>
                  <a:pt x="69850" y="129302"/>
                  <a:pt x="69850" y="127635"/>
                </a:cubicBezTo>
                <a:cubicBezTo>
                  <a:pt x="69850" y="123785"/>
                  <a:pt x="72946" y="120690"/>
                  <a:pt x="76795" y="12069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4" name="Text 22"/>
          <p:cNvSpPr/>
          <p:nvPr/>
        </p:nvSpPr>
        <p:spPr>
          <a:xfrm>
            <a:off x="6282267" y="4919135"/>
            <a:ext cx="199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stakeholders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64767" y="532553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88900" y="98425"/>
                </a:moveTo>
                <a:cubicBezTo>
                  <a:pt x="62615" y="98425"/>
                  <a:pt x="41275" y="77085"/>
                  <a:pt x="41275" y="50800"/>
                </a:cubicBezTo>
                <a:cubicBezTo>
                  <a:pt x="41275" y="24515"/>
                  <a:pt x="62615" y="3175"/>
                  <a:pt x="88900" y="3175"/>
                </a:cubicBezTo>
                <a:cubicBezTo>
                  <a:pt x="115185" y="3175"/>
                  <a:pt x="136525" y="24515"/>
                  <a:pt x="136525" y="50800"/>
                </a:cubicBezTo>
                <a:cubicBezTo>
                  <a:pt x="136525" y="77085"/>
                  <a:pt x="115185" y="98425"/>
                  <a:pt x="88900" y="98425"/>
                </a:cubicBezTo>
                <a:close/>
                <a:moveTo>
                  <a:pt x="76795" y="120650"/>
                </a:moveTo>
                <a:lnTo>
                  <a:pt x="101005" y="120650"/>
                </a:lnTo>
                <a:cubicBezTo>
                  <a:pt x="104854" y="120650"/>
                  <a:pt x="107950" y="123746"/>
                  <a:pt x="107950" y="127595"/>
                </a:cubicBezTo>
                <a:cubicBezTo>
                  <a:pt x="107950" y="129262"/>
                  <a:pt x="107355" y="130850"/>
                  <a:pt x="106283" y="132120"/>
                </a:cubicBezTo>
                <a:lnTo>
                  <a:pt x="95409" y="144820"/>
                </a:lnTo>
                <a:lnTo>
                  <a:pt x="107712" y="190500"/>
                </a:lnTo>
                <a:lnTo>
                  <a:pt x="107950" y="190500"/>
                </a:lnTo>
                <a:lnTo>
                  <a:pt x="121682" y="135533"/>
                </a:lnTo>
                <a:cubicBezTo>
                  <a:pt x="122555" y="132080"/>
                  <a:pt x="126087" y="129977"/>
                  <a:pt x="129421" y="131247"/>
                </a:cubicBezTo>
                <a:cubicBezTo>
                  <a:pt x="153988" y="140613"/>
                  <a:pt x="171450" y="164425"/>
                  <a:pt x="171450" y="192286"/>
                </a:cubicBezTo>
                <a:cubicBezTo>
                  <a:pt x="171450" y="198279"/>
                  <a:pt x="166568" y="203160"/>
                  <a:pt x="160576" y="203160"/>
                </a:cubicBezTo>
                <a:lnTo>
                  <a:pt x="17224" y="203200"/>
                </a:lnTo>
                <a:cubicBezTo>
                  <a:pt x="11232" y="203200"/>
                  <a:pt x="6350" y="198318"/>
                  <a:pt x="6350" y="192326"/>
                </a:cubicBezTo>
                <a:cubicBezTo>
                  <a:pt x="6350" y="164465"/>
                  <a:pt x="23813" y="140653"/>
                  <a:pt x="48379" y="131286"/>
                </a:cubicBezTo>
                <a:cubicBezTo>
                  <a:pt x="51713" y="130016"/>
                  <a:pt x="55245" y="132120"/>
                  <a:pt x="56118" y="135573"/>
                </a:cubicBezTo>
                <a:lnTo>
                  <a:pt x="69850" y="190540"/>
                </a:lnTo>
                <a:lnTo>
                  <a:pt x="70088" y="190540"/>
                </a:lnTo>
                <a:lnTo>
                  <a:pt x="82391" y="144859"/>
                </a:lnTo>
                <a:lnTo>
                  <a:pt x="71517" y="132159"/>
                </a:lnTo>
                <a:cubicBezTo>
                  <a:pt x="70445" y="130889"/>
                  <a:pt x="69850" y="129302"/>
                  <a:pt x="69850" y="127635"/>
                </a:cubicBezTo>
                <a:cubicBezTo>
                  <a:pt x="69850" y="123785"/>
                  <a:pt x="72946" y="120690"/>
                  <a:pt x="76795" y="12069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6" name="Text 24"/>
          <p:cNvSpPr/>
          <p:nvPr/>
        </p:nvSpPr>
        <p:spPr>
          <a:xfrm>
            <a:off x="6282267" y="5274735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Engineering managers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64767" y="568113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88900" y="98425"/>
                </a:moveTo>
                <a:cubicBezTo>
                  <a:pt x="62615" y="98425"/>
                  <a:pt x="41275" y="77085"/>
                  <a:pt x="41275" y="50800"/>
                </a:cubicBezTo>
                <a:cubicBezTo>
                  <a:pt x="41275" y="24515"/>
                  <a:pt x="62615" y="3175"/>
                  <a:pt x="88900" y="3175"/>
                </a:cubicBezTo>
                <a:cubicBezTo>
                  <a:pt x="115185" y="3175"/>
                  <a:pt x="136525" y="24515"/>
                  <a:pt x="136525" y="50800"/>
                </a:cubicBezTo>
                <a:cubicBezTo>
                  <a:pt x="136525" y="77085"/>
                  <a:pt x="115185" y="98425"/>
                  <a:pt x="88900" y="98425"/>
                </a:cubicBezTo>
                <a:close/>
                <a:moveTo>
                  <a:pt x="76795" y="120650"/>
                </a:moveTo>
                <a:lnTo>
                  <a:pt x="101005" y="120650"/>
                </a:lnTo>
                <a:cubicBezTo>
                  <a:pt x="104854" y="120650"/>
                  <a:pt x="107950" y="123746"/>
                  <a:pt x="107950" y="127595"/>
                </a:cubicBezTo>
                <a:cubicBezTo>
                  <a:pt x="107950" y="129262"/>
                  <a:pt x="107355" y="130850"/>
                  <a:pt x="106283" y="132120"/>
                </a:cubicBezTo>
                <a:lnTo>
                  <a:pt x="95409" y="144820"/>
                </a:lnTo>
                <a:lnTo>
                  <a:pt x="107712" y="190500"/>
                </a:lnTo>
                <a:lnTo>
                  <a:pt x="107950" y="190500"/>
                </a:lnTo>
                <a:lnTo>
                  <a:pt x="121682" y="135533"/>
                </a:lnTo>
                <a:cubicBezTo>
                  <a:pt x="122555" y="132080"/>
                  <a:pt x="126087" y="129977"/>
                  <a:pt x="129421" y="131247"/>
                </a:cubicBezTo>
                <a:cubicBezTo>
                  <a:pt x="153988" y="140613"/>
                  <a:pt x="171450" y="164425"/>
                  <a:pt x="171450" y="192286"/>
                </a:cubicBezTo>
                <a:cubicBezTo>
                  <a:pt x="171450" y="198279"/>
                  <a:pt x="166568" y="203160"/>
                  <a:pt x="160576" y="203160"/>
                </a:cubicBezTo>
                <a:lnTo>
                  <a:pt x="17224" y="203200"/>
                </a:lnTo>
                <a:cubicBezTo>
                  <a:pt x="11232" y="203200"/>
                  <a:pt x="6350" y="198318"/>
                  <a:pt x="6350" y="192326"/>
                </a:cubicBezTo>
                <a:cubicBezTo>
                  <a:pt x="6350" y="164465"/>
                  <a:pt x="23813" y="140653"/>
                  <a:pt x="48379" y="131286"/>
                </a:cubicBezTo>
                <a:cubicBezTo>
                  <a:pt x="51713" y="130016"/>
                  <a:pt x="55245" y="132120"/>
                  <a:pt x="56118" y="135573"/>
                </a:cubicBezTo>
                <a:lnTo>
                  <a:pt x="69850" y="190540"/>
                </a:lnTo>
                <a:lnTo>
                  <a:pt x="70088" y="190540"/>
                </a:lnTo>
                <a:lnTo>
                  <a:pt x="82391" y="144859"/>
                </a:lnTo>
                <a:lnTo>
                  <a:pt x="71517" y="132159"/>
                </a:lnTo>
                <a:cubicBezTo>
                  <a:pt x="70445" y="130889"/>
                  <a:pt x="69850" y="129302"/>
                  <a:pt x="69850" y="127635"/>
                </a:cubicBezTo>
                <a:cubicBezTo>
                  <a:pt x="69850" y="123785"/>
                  <a:pt x="72946" y="120690"/>
                  <a:pt x="76795" y="12069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8" name="Text 26"/>
          <p:cNvSpPr/>
          <p:nvPr/>
        </p:nvSpPr>
        <p:spPr>
          <a:xfrm>
            <a:off x="6282267" y="5630335"/>
            <a:ext cx="151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C-suite executives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837334" y="1700110"/>
            <a:ext cx="4914900" cy="5700607"/>
          </a:xfrm>
          <a:custGeom>
            <a:avLst/>
            <a:gdLst/>
            <a:ahLst/>
            <a:cxnLst/>
            <a:rect l="l" t="t" r="r" b="b"/>
            <a:pathLst>
              <a:path w="4914900" h="5700607">
                <a:moveTo>
                  <a:pt x="47413" y="0"/>
                </a:moveTo>
                <a:lnTo>
                  <a:pt x="4867487" y="0"/>
                </a:lnTo>
                <a:cubicBezTo>
                  <a:pt x="4893672" y="0"/>
                  <a:pt x="4914900" y="21228"/>
                  <a:pt x="4914900" y="47413"/>
                </a:cubicBezTo>
                <a:lnTo>
                  <a:pt x="4914900" y="5548196"/>
                </a:lnTo>
                <a:cubicBezTo>
                  <a:pt x="4914900" y="5632370"/>
                  <a:pt x="4846663" y="5700607"/>
                  <a:pt x="4762489" y="5700607"/>
                </a:cubicBezTo>
                <a:lnTo>
                  <a:pt x="152411" y="5700607"/>
                </a:lnTo>
                <a:cubicBezTo>
                  <a:pt x="68237" y="5700607"/>
                  <a:pt x="0" y="5632370"/>
                  <a:pt x="0" y="5548196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54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10837334" y="1700110"/>
            <a:ext cx="4914900" cy="47413"/>
          </a:xfrm>
          <a:custGeom>
            <a:avLst/>
            <a:gdLst/>
            <a:ahLst/>
            <a:cxnLst/>
            <a:rect l="l" t="t" r="r" b="b"/>
            <a:pathLst>
              <a:path w="4914900" h="47413">
                <a:moveTo>
                  <a:pt x="47413" y="0"/>
                </a:moveTo>
                <a:lnTo>
                  <a:pt x="4867487" y="0"/>
                </a:lnTo>
                <a:cubicBezTo>
                  <a:pt x="4893672" y="0"/>
                  <a:pt x="4914900" y="21228"/>
                  <a:pt x="4914900" y="47413"/>
                </a:cubicBezTo>
                <a:lnTo>
                  <a:pt x="4914900" y="47413"/>
                </a:lnTo>
                <a:lnTo>
                  <a:pt x="0" y="47413"/>
                </a:ln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11091334" y="197781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269134" y="215561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3" name="Text 31"/>
          <p:cNvSpPr/>
          <p:nvPr/>
        </p:nvSpPr>
        <p:spPr>
          <a:xfrm>
            <a:off x="11853334" y="2079414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091334" y="4055535"/>
            <a:ext cx="4508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insights enable informed decisions that reduce technology risk and maximize ROI.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104034" y="4969935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52400" y="63500"/>
                </a:moveTo>
                <a:cubicBezTo>
                  <a:pt x="145375" y="63500"/>
                  <a:pt x="139700" y="57825"/>
                  <a:pt x="139700" y="50800"/>
                </a:cubicBezTo>
                <a:cubicBezTo>
                  <a:pt x="139700" y="43775"/>
                  <a:pt x="145375" y="38100"/>
                  <a:pt x="152400" y="38100"/>
                </a:cubicBezTo>
                <a:lnTo>
                  <a:pt x="215900" y="38100"/>
                </a:lnTo>
                <a:cubicBezTo>
                  <a:pt x="222925" y="38100"/>
                  <a:pt x="228600" y="43775"/>
                  <a:pt x="228600" y="50800"/>
                </a:cubicBezTo>
                <a:lnTo>
                  <a:pt x="228600" y="114300"/>
                </a:lnTo>
                <a:cubicBezTo>
                  <a:pt x="228600" y="121325"/>
                  <a:pt x="222925" y="127000"/>
                  <a:pt x="215900" y="127000"/>
                </a:cubicBezTo>
                <a:cubicBezTo>
                  <a:pt x="208875" y="127000"/>
                  <a:pt x="203200" y="121325"/>
                  <a:pt x="203200" y="114300"/>
                </a:cubicBezTo>
                <a:lnTo>
                  <a:pt x="203200" y="81478"/>
                </a:lnTo>
                <a:lnTo>
                  <a:pt x="135969" y="148709"/>
                </a:lnTo>
                <a:cubicBezTo>
                  <a:pt x="131008" y="153670"/>
                  <a:pt x="122952" y="153670"/>
                  <a:pt x="117991" y="148709"/>
                </a:cubicBezTo>
                <a:lnTo>
                  <a:pt x="76200" y="106878"/>
                </a:lnTo>
                <a:lnTo>
                  <a:pt x="21669" y="161369"/>
                </a:lnTo>
                <a:cubicBezTo>
                  <a:pt x="16708" y="166330"/>
                  <a:pt x="8652" y="166330"/>
                  <a:pt x="3691" y="161369"/>
                </a:cubicBezTo>
                <a:cubicBezTo>
                  <a:pt x="-1270" y="156408"/>
                  <a:pt x="-1270" y="148352"/>
                  <a:pt x="3691" y="143391"/>
                </a:cubicBezTo>
                <a:lnTo>
                  <a:pt x="67191" y="79891"/>
                </a:lnTo>
                <a:cubicBezTo>
                  <a:pt x="72152" y="74930"/>
                  <a:pt x="80208" y="74930"/>
                  <a:pt x="85169" y="79891"/>
                </a:cubicBezTo>
                <a:lnTo>
                  <a:pt x="127000" y="121722"/>
                </a:lnTo>
                <a:lnTo>
                  <a:pt x="185222" y="63500"/>
                </a:lnTo>
                <a:lnTo>
                  <a:pt x="152400" y="6350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6" name="Text 34"/>
          <p:cNvSpPr/>
          <p:nvPr/>
        </p:nvSpPr>
        <p:spPr>
          <a:xfrm>
            <a:off x="11446934" y="4919135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hiring strategies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104034" y="5325535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52400" y="63500"/>
                </a:moveTo>
                <a:cubicBezTo>
                  <a:pt x="145375" y="63500"/>
                  <a:pt x="139700" y="57825"/>
                  <a:pt x="139700" y="50800"/>
                </a:cubicBezTo>
                <a:cubicBezTo>
                  <a:pt x="139700" y="43775"/>
                  <a:pt x="145375" y="38100"/>
                  <a:pt x="152400" y="38100"/>
                </a:cubicBezTo>
                <a:lnTo>
                  <a:pt x="215900" y="38100"/>
                </a:lnTo>
                <a:cubicBezTo>
                  <a:pt x="222925" y="38100"/>
                  <a:pt x="228600" y="43775"/>
                  <a:pt x="228600" y="50800"/>
                </a:cubicBezTo>
                <a:lnTo>
                  <a:pt x="228600" y="114300"/>
                </a:lnTo>
                <a:cubicBezTo>
                  <a:pt x="228600" y="121325"/>
                  <a:pt x="222925" y="127000"/>
                  <a:pt x="215900" y="127000"/>
                </a:cubicBezTo>
                <a:cubicBezTo>
                  <a:pt x="208875" y="127000"/>
                  <a:pt x="203200" y="121325"/>
                  <a:pt x="203200" y="114300"/>
                </a:cubicBezTo>
                <a:lnTo>
                  <a:pt x="203200" y="81478"/>
                </a:lnTo>
                <a:lnTo>
                  <a:pt x="135969" y="148709"/>
                </a:lnTo>
                <a:cubicBezTo>
                  <a:pt x="131008" y="153670"/>
                  <a:pt x="122952" y="153670"/>
                  <a:pt x="117991" y="148709"/>
                </a:cubicBezTo>
                <a:lnTo>
                  <a:pt x="76200" y="106878"/>
                </a:lnTo>
                <a:lnTo>
                  <a:pt x="21669" y="161369"/>
                </a:lnTo>
                <a:cubicBezTo>
                  <a:pt x="16708" y="166330"/>
                  <a:pt x="8652" y="166330"/>
                  <a:pt x="3691" y="161369"/>
                </a:cubicBezTo>
                <a:cubicBezTo>
                  <a:pt x="-1270" y="156408"/>
                  <a:pt x="-1270" y="148352"/>
                  <a:pt x="3691" y="143391"/>
                </a:cubicBezTo>
                <a:lnTo>
                  <a:pt x="67191" y="79891"/>
                </a:lnTo>
                <a:cubicBezTo>
                  <a:pt x="72152" y="74930"/>
                  <a:pt x="80208" y="74930"/>
                  <a:pt x="85169" y="79891"/>
                </a:cubicBezTo>
                <a:lnTo>
                  <a:pt x="127000" y="121722"/>
                </a:lnTo>
                <a:lnTo>
                  <a:pt x="185222" y="63500"/>
                </a:lnTo>
                <a:lnTo>
                  <a:pt x="152400" y="6350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8" name="Text 36"/>
          <p:cNvSpPr/>
          <p:nvPr/>
        </p:nvSpPr>
        <p:spPr>
          <a:xfrm>
            <a:off x="11446934" y="5274735"/>
            <a:ext cx="213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Guide training investments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104034" y="5681135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52400" y="63500"/>
                </a:moveTo>
                <a:cubicBezTo>
                  <a:pt x="145375" y="63500"/>
                  <a:pt x="139700" y="57825"/>
                  <a:pt x="139700" y="50800"/>
                </a:cubicBezTo>
                <a:cubicBezTo>
                  <a:pt x="139700" y="43775"/>
                  <a:pt x="145375" y="38100"/>
                  <a:pt x="152400" y="38100"/>
                </a:cubicBezTo>
                <a:lnTo>
                  <a:pt x="215900" y="38100"/>
                </a:lnTo>
                <a:cubicBezTo>
                  <a:pt x="222925" y="38100"/>
                  <a:pt x="228600" y="43775"/>
                  <a:pt x="228600" y="50800"/>
                </a:cubicBezTo>
                <a:lnTo>
                  <a:pt x="228600" y="114300"/>
                </a:lnTo>
                <a:cubicBezTo>
                  <a:pt x="228600" y="121325"/>
                  <a:pt x="222925" y="127000"/>
                  <a:pt x="215900" y="127000"/>
                </a:cubicBezTo>
                <a:cubicBezTo>
                  <a:pt x="208875" y="127000"/>
                  <a:pt x="203200" y="121325"/>
                  <a:pt x="203200" y="114300"/>
                </a:cubicBezTo>
                <a:lnTo>
                  <a:pt x="203200" y="81478"/>
                </a:lnTo>
                <a:lnTo>
                  <a:pt x="135969" y="148709"/>
                </a:lnTo>
                <a:cubicBezTo>
                  <a:pt x="131008" y="153670"/>
                  <a:pt x="122952" y="153670"/>
                  <a:pt x="117991" y="148709"/>
                </a:cubicBezTo>
                <a:lnTo>
                  <a:pt x="76200" y="106878"/>
                </a:lnTo>
                <a:lnTo>
                  <a:pt x="21669" y="161369"/>
                </a:lnTo>
                <a:cubicBezTo>
                  <a:pt x="16708" y="166330"/>
                  <a:pt x="8652" y="166330"/>
                  <a:pt x="3691" y="161369"/>
                </a:cubicBezTo>
                <a:cubicBezTo>
                  <a:pt x="-1270" y="156408"/>
                  <a:pt x="-1270" y="148352"/>
                  <a:pt x="3691" y="143391"/>
                </a:cubicBezTo>
                <a:lnTo>
                  <a:pt x="67191" y="79891"/>
                </a:lnTo>
                <a:cubicBezTo>
                  <a:pt x="72152" y="74930"/>
                  <a:pt x="80208" y="74930"/>
                  <a:pt x="85169" y="79891"/>
                </a:cubicBezTo>
                <a:lnTo>
                  <a:pt x="127000" y="121722"/>
                </a:lnTo>
                <a:lnTo>
                  <a:pt x="185222" y="63500"/>
                </a:lnTo>
                <a:lnTo>
                  <a:pt x="152400" y="6350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0" name="Text 38"/>
          <p:cNvSpPr/>
          <p:nvPr/>
        </p:nvSpPr>
        <p:spPr>
          <a:xfrm>
            <a:off x="11446934" y="5630335"/>
            <a:ext cx="251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 infrastructure with market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11387" y="7609843"/>
            <a:ext cx="15234073" cy="1022773"/>
          </a:xfrm>
          <a:custGeom>
            <a:avLst/>
            <a:gdLst/>
            <a:ahLst/>
            <a:cxnLst/>
            <a:rect l="l" t="t" r="r" b="b"/>
            <a:pathLst>
              <a:path w="15234073" h="1022773">
                <a:moveTo>
                  <a:pt x="152403" y="0"/>
                </a:moveTo>
                <a:lnTo>
                  <a:pt x="15081670" y="0"/>
                </a:lnTo>
                <a:cubicBezTo>
                  <a:pt x="15165840" y="0"/>
                  <a:pt x="15234073" y="68233"/>
                  <a:pt x="15234073" y="152403"/>
                </a:cubicBezTo>
                <a:lnTo>
                  <a:pt x="15234073" y="870370"/>
                </a:lnTo>
                <a:cubicBezTo>
                  <a:pt x="15234073" y="954540"/>
                  <a:pt x="15165840" y="1022773"/>
                  <a:pt x="15081670" y="1022773"/>
                </a:cubicBezTo>
                <a:lnTo>
                  <a:pt x="152403" y="1022773"/>
                </a:lnTo>
                <a:cubicBezTo>
                  <a:pt x="68233" y="1022773"/>
                  <a:pt x="0" y="954540"/>
                  <a:pt x="0" y="870370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2573" y="796882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3" name="Text 41"/>
          <p:cNvSpPr/>
          <p:nvPr/>
        </p:nvSpPr>
        <p:spPr>
          <a:xfrm>
            <a:off x="1181206" y="7816428"/>
            <a:ext cx="14452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This Analysis Matters: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 rapidly evolving technology landscape, organizations that make evidence-based technology decisions achieve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 faster time-to-market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 lower infrastructure costs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compared to reactive approaches.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080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1200" y="1117600"/>
            <a:ext cx="151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transparent, data-driven research framework ensures reliable insights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1387" y="2910840"/>
            <a:ext cx="3219873" cy="2749973"/>
          </a:xfrm>
          <a:custGeom>
            <a:avLst/>
            <a:gdLst/>
            <a:ahLst/>
            <a:cxnLst/>
            <a:rect l="l" t="t" r="r" b="b"/>
            <a:pathLst>
              <a:path w="3219873" h="2749973">
                <a:moveTo>
                  <a:pt x="152404" y="0"/>
                </a:moveTo>
                <a:lnTo>
                  <a:pt x="3067470" y="0"/>
                </a:lnTo>
                <a:cubicBezTo>
                  <a:pt x="3151640" y="0"/>
                  <a:pt x="3219873" y="68233"/>
                  <a:pt x="3219873" y="152404"/>
                </a:cubicBezTo>
                <a:lnTo>
                  <a:pt x="3219873" y="2597570"/>
                </a:lnTo>
                <a:cubicBezTo>
                  <a:pt x="3219873" y="2681740"/>
                  <a:pt x="3151640" y="2749973"/>
                  <a:pt x="3067470" y="2749973"/>
                </a:cubicBezTo>
                <a:lnTo>
                  <a:pt x="152404" y="2749973"/>
                </a:lnTo>
                <a:cubicBezTo>
                  <a:pt x="68233" y="2749973"/>
                  <a:pt x="0" y="2681740"/>
                  <a:pt x="0" y="2597570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973" y="3117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900007" y="3244425"/>
            <a:ext cx="36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79973" y="3244425"/>
            <a:ext cx="162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6548" y="39302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0" name="Text 8"/>
          <p:cNvSpPr/>
          <p:nvPr/>
        </p:nvSpPr>
        <p:spPr>
          <a:xfrm>
            <a:off x="1010073" y="3879425"/>
            <a:ext cx="163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DB-Engines Ranking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6548" y="42604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35719" y="66675"/>
                </a:moveTo>
                <a:cubicBezTo>
                  <a:pt x="39678" y="66675"/>
                  <a:pt x="42863" y="69860"/>
                  <a:pt x="42863" y="73819"/>
                </a:cubicBezTo>
                <a:lnTo>
                  <a:pt x="42863" y="107156"/>
                </a:lnTo>
                <a:cubicBezTo>
                  <a:pt x="42863" y="111115"/>
                  <a:pt x="39678" y="114300"/>
                  <a:pt x="35719" y="114300"/>
                </a:cubicBezTo>
                <a:cubicBezTo>
                  <a:pt x="31760" y="114300"/>
                  <a:pt x="28575" y="111115"/>
                  <a:pt x="28575" y="107156"/>
                </a:cubicBezTo>
                <a:lnTo>
                  <a:pt x="28575" y="73819"/>
                </a:lnTo>
                <a:cubicBezTo>
                  <a:pt x="28575" y="69860"/>
                  <a:pt x="31760" y="66675"/>
                  <a:pt x="35719" y="66675"/>
                </a:cubicBezTo>
                <a:close/>
                <a:moveTo>
                  <a:pt x="90488" y="92869"/>
                </a:moveTo>
                <a:cubicBezTo>
                  <a:pt x="90488" y="88910"/>
                  <a:pt x="93672" y="85725"/>
                  <a:pt x="97631" y="85725"/>
                </a:cubicBezTo>
                <a:cubicBezTo>
                  <a:pt x="101590" y="85725"/>
                  <a:pt x="104775" y="88910"/>
                  <a:pt x="104775" y="92869"/>
                </a:cubicBezTo>
                <a:lnTo>
                  <a:pt x="104775" y="107156"/>
                </a:lnTo>
                <a:cubicBezTo>
                  <a:pt x="104775" y="111115"/>
                  <a:pt x="101590" y="114300"/>
                  <a:pt x="97631" y="114300"/>
                </a:cubicBezTo>
                <a:cubicBezTo>
                  <a:pt x="93672" y="114300"/>
                  <a:pt x="90488" y="111115"/>
                  <a:pt x="90488" y="107156"/>
                </a:cubicBezTo>
                <a:lnTo>
                  <a:pt x="90488" y="92869"/>
                </a:lnTo>
                <a:close/>
                <a:moveTo>
                  <a:pt x="66675" y="38100"/>
                </a:moveTo>
                <a:cubicBezTo>
                  <a:pt x="70634" y="38100"/>
                  <a:pt x="73819" y="41285"/>
                  <a:pt x="73819" y="45244"/>
                </a:cubicBezTo>
                <a:lnTo>
                  <a:pt x="73819" y="107156"/>
                </a:lnTo>
                <a:cubicBezTo>
                  <a:pt x="73819" y="111115"/>
                  <a:pt x="70634" y="114300"/>
                  <a:pt x="66675" y="114300"/>
                </a:cubicBezTo>
                <a:cubicBezTo>
                  <a:pt x="62716" y="114300"/>
                  <a:pt x="59531" y="111115"/>
                  <a:pt x="59531" y="107156"/>
                </a:cubicBezTo>
                <a:lnTo>
                  <a:pt x="59531" y="45244"/>
                </a:lnTo>
                <a:cubicBezTo>
                  <a:pt x="59531" y="41285"/>
                  <a:pt x="62716" y="38100"/>
                  <a:pt x="66675" y="381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010073" y="4209625"/>
            <a:ext cx="185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 Overflow Survey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7023" y="4590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1762" y="118289"/>
                </a:moveTo>
                <a:cubicBezTo>
                  <a:pt x="51762" y="118884"/>
                  <a:pt x="51078" y="119360"/>
                  <a:pt x="50215" y="119360"/>
                </a:cubicBezTo>
                <a:cubicBezTo>
                  <a:pt x="49232" y="119449"/>
                  <a:pt x="48548" y="118973"/>
                  <a:pt x="48548" y="118289"/>
                </a:cubicBezTo>
                <a:cubicBezTo>
                  <a:pt x="48548" y="117693"/>
                  <a:pt x="49232" y="117217"/>
                  <a:pt x="50096" y="117217"/>
                </a:cubicBezTo>
                <a:cubicBezTo>
                  <a:pt x="50989" y="117128"/>
                  <a:pt x="51762" y="117604"/>
                  <a:pt x="51762" y="118289"/>
                </a:cubicBezTo>
                <a:close/>
                <a:moveTo>
                  <a:pt x="42505" y="116949"/>
                </a:moveTo>
                <a:cubicBezTo>
                  <a:pt x="42297" y="117544"/>
                  <a:pt x="42892" y="118229"/>
                  <a:pt x="43785" y="118408"/>
                </a:cubicBezTo>
                <a:cubicBezTo>
                  <a:pt x="44559" y="118705"/>
                  <a:pt x="45452" y="118408"/>
                  <a:pt x="45631" y="117812"/>
                </a:cubicBezTo>
                <a:cubicBezTo>
                  <a:pt x="45809" y="117217"/>
                  <a:pt x="45244" y="116532"/>
                  <a:pt x="44351" y="116265"/>
                </a:cubicBezTo>
                <a:cubicBezTo>
                  <a:pt x="43577" y="116056"/>
                  <a:pt x="42714" y="116354"/>
                  <a:pt x="42505" y="116949"/>
                </a:cubicBezTo>
                <a:close/>
                <a:moveTo>
                  <a:pt x="55662" y="116443"/>
                </a:moveTo>
                <a:cubicBezTo>
                  <a:pt x="54799" y="116651"/>
                  <a:pt x="54203" y="117217"/>
                  <a:pt x="54293" y="117902"/>
                </a:cubicBezTo>
                <a:cubicBezTo>
                  <a:pt x="54382" y="118497"/>
                  <a:pt x="55156" y="118884"/>
                  <a:pt x="56049" y="118676"/>
                </a:cubicBezTo>
                <a:cubicBezTo>
                  <a:pt x="56912" y="118467"/>
                  <a:pt x="57507" y="117902"/>
                  <a:pt x="57418" y="117306"/>
                </a:cubicBezTo>
                <a:cubicBezTo>
                  <a:pt x="57329" y="116741"/>
                  <a:pt x="56525" y="116354"/>
                  <a:pt x="55662" y="116443"/>
                </a:cubicBezTo>
                <a:close/>
                <a:moveTo>
                  <a:pt x="75248" y="2381"/>
                </a:moveTo>
                <a:cubicBezTo>
                  <a:pt x="33963" y="2381"/>
                  <a:pt x="2381" y="33724"/>
                  <a:pt x="2381" y="75009"/>
                </a:cubicBezTo>
                <a:cubicBezTo>
                  <a:pt x="2381" y="108019"/>
                  <a:pt x="23158" y="136267"/>
                  <a:pt x="52834" y="146209"/>
                </a:cubicBezTo>
                <a:cubicBezTo>
                  <a:pt x="56644" y="146893"/>
                  <a:pt x="57983" y="144542"/>
                  <a:pt x="57983" y="142607"/>
                </a:cubicBezTo>
                <a:cubicBezTo>
                  <a:pt x="57983" y="140762"/>
                  <a:pt x="57894" y="130582"/>
                  <a:pt x="57894" y="124331"/>
                </a:cubicBezTo>
                <a:cubicBezTo>
                  <a:pt x="57894" y="124331"/>
                  <a:pt x="37058" y="128796"/>
                  <a:pt x="32683" y="115461"/>
                </a:cubicBezTo>
                <a:cubicBezTo>
                  <a:pt x="32683" y="115461"/>
                  <a:pt x="29289" y="106799"/>
                  <a:pt x="24408" y="104567"/>
                </a:cubicBezTo>
                <a:cubicBezTo>
                  <a:pt x="24408" y="104567"/>
                  <a:pt x="17591" y="99893"/>
                  <a:pt x="24884" y="99983"/>
                </a:cubicBezTo>
                <a:cubicBezTo>
                  <a:pt x="24884" y="99983"/>
                  <a:pt x="32296" y="100578"/>
                  <a:pt x="36374" y="107662"/>
                </a:cubicBezTo>
                <a:cubicBezTo>
                  <a:pt x="42892" y="119152"/>
                  <a:pt x="53816" y="115848"/>
                  <a:pt x="58073" y="113883"/>
                </a:cubicBezTo>
                <a:cubicBezTo>
                  <a:pt x="58757" y="109121"/>
                  <a:pt x="60692" y="105817"/>
                  <a:pt x="62835" y="103852"/>
                </a:cubicBezTo>
                <a:cubicBezTo>
                  <a:pt x="46196" y="102007"/>
                  <a:pt x="29408" y="99596"/>
                  <a:pt x="29408" y="70961"/>
                </a:cubicBezTo>
                <a:cubicBezTo>
                  <a:pt x="29408" y="62776"/>
                  <a:pt x="31671" y="58668"/>
                  <a:pt x="36433" y="53429"/>
                </a:cubicBezTo>
                <a:cubicBezTo>
                  <a:pt x="35659" y="51495"/>
                  <a:pt x="33129" y="43517"/>
                  <a:pt x="37207" y="33218"/>
                </a:cubicBezTo>
                <a:cubicBezTo>
                  <a:pt x="43428" y="31284"/>
                  <a:pt x="57745" y="41255"/>
                  <a:pt x="57745" y="41255"/>
                </a:cubicBezTo>
                <a:cubicBezTo>
                  <a:pt x="63698" y="39588"/>
                  <a:pt x="70098" y="38725"/>
                  <a:pt x="76438" y="38725"/>
                </a:cubicBezTo>
                <a:cubicBezTo>
                  <a:pt x="82778" y="38725"/>
                  <a:pt x="89178" y="39588"/>
                  <a:pt x="95131" y="41255"/>
                </a:cubicBezTo>
                <a:cubicBezTo>
                  <a:pt x="95131" y="41255"/>
                  <a:pt x="109448" y="31254"/>
                  <a:pt x="115669" y="33218"/>
                </a:cubicBezTo>
                <a:cubicBezTo>
                  <a:pt x="119747" y="43547"/>
                  <a:pt x="117217" y="51495"/>
                  <a:pt x="116443" y="53429"/>
                </a:cubicBezTo>
                <a:cubicBezTo>
                  <a:pt x="121206" y="58698"/>
                  <a:pt x="124123" y="62805"/>
                  <a:pt x="124123" y="70961"/>
                </a:cubicBezTo>
                <a:cubicBezTo>
                  <a:pt x="124123" y="99685"/>
                  <a:pt x="106591" y="101977"/>
                  <a:pt x="89952" y="103852"/>
                </a:cubicBezTo>
                <a:cubicBezTo>
                  <a:pt x="92690" y="106204"/>
                  <a:pt x="95012" y="110669"/>
                  <a:pt x="95012" y="117664"/>
                </a:cubicBezTo>
                <a:cubicBezTo>
                  <a:pt x="95012" y="127695"/>
                  <a:pt x="94923" y="140107"/>
                  <a:pt x="94923" y="142548"/>
                </a:cubicBezTo>
                <a:cubicBezTo>
                  <a:pt x="94923" y="144482"/>
                  <a:pt x="96292" y="146834"/>
                  <a:pt x="100072" y="146149"/>
                </a:cubicBezTo>
                <a:cubicBezTo>
                  <a:pt x="129838" y="136267"/>
                  <a:pt x="150019" y="108019"/>
                  <a:pt x="150019" y="75009"/>
                </a:cubicBezTo>
                <a:cubicBezTo>
                  <a:pt x="150019" y="33724"/>
                  <a:pt x="116532" y="2381"/>
                  <a:pt x="75248" y="2381"/>
                </a:cubicBezTo>
                <a:close/>
                <a:moveTo>
                  <a:pt x="31313" y="105043"/>
                </a:moveTo>
                <a:cubicBezTo>
                  <a:pt x="30926" y="105341"/>
                  <a:pt x="31016" y="106025"/>
                  <a:pt x="31522" y="106591"/>
                </a:cubicBezTo>
                <a:cubicBezTo>
                  <a:pt x="31998" y="107067"/>
                  <a:pt x="32683" y="107275"/>
                  <a:pt x="33070" y="106888"/>
                </a:cubicBezTo>
                <a:cubicBezTo>
                  <a:pt x="33457" y="106591"/>
                  <a:pt x="33367" y="105906"/>
                  <a:pt x="32861" y="105341"/>
                </a:cubicBezTo>
                <a:cubicBezTo>
                  <a:pt x="32385" y="104864"/>
                  <a:pt x="31700" y="104656"/>
                  <a:pt x="31313" y="105043"/>
                </a:cubicBezTo>
                <a:close/>
                <a:moveTo>
                  <a:pt x="28099" y="102632"/>
                </a:moveTo>
                <a:cubicBezTo>
                  <a:pt x="27890" y="103019"/>
                  <a:pt x="28188" y="103495"/>
                  <a:pt x="28783" y="103793"/>
                </a:cubicBezTo>
                <a:cubicBezTo>
                  <a:pt x="29260" y="104090"/>
                  <a:pt x="29855" y="104001"/>
                  <a:pt x="30063" y="103584"/>
                </a:cubicBezTo>
                <a:cubicBezTo>
                  <a:pt x="30272" y="103197"/>
                  <a:pt x="29974" y="102721"/>
                  <a:pt x="29379" y="102424"/>
                </a:cubicBezTo>
                <a:cubicBezTo>
                  <a:pt x="28783" y="102245"/>
                  <a:pt x="28307" y="102334"/>
                  <a:pt x="28099" y="102632"/>
                </a:cubicBezTo>
                <a:close/>
                <a:moveTo>
                  <a:pt x="37743" y="113228"/>
                </a:moveTo>
                <a:cubicBezTo>
                  <a:pt x="37267" y="113615"/>
                  <a:pt x="37445" y="114508"/>
                  <a:pt x="38130" y="115074"/>
                </a:cubicBezTo>
                <a:cubicBezTo>
                  <a:pt x="38814" y="115759"/>
                  <a:pt x="39678" y="115848"/>
                  <a:pt x="40065" y="115372"/>
                </a:cubicBezTo>
                <a:cubicBezTo>
                  <a:pt x="40451" y="114985"/>
                  <a:pt x="40273" y="114092"/>
                  <a:pt x="39678" y="113526"/>
                </a:cubicBezTo>
                <a:cubicBezTo>
                  <a:pt x="39023" y="112841"/>
                  <a:pt x="38130" y="112752"/>
                  <a:pt x="37743" y="113228"/>
                </a:cubicBezTo>
                <a:close/>
                <a:moveTo>
                  <a:pt x="34350" y="108853"/>
                </a:moveTo>
                <a:cubicBezTo>
                  <a:pt x="33873" y="109151"/>
                  <a:pt x="33873" y="109924"/>
                  <a:pt x="34350" y="110609"/>
                </a:cubicBezTo>
                <a:cubicBezTo>
                  <a:pt x="34826" y="111294"/>
                  <a:pt x="35629" y="111591"/>
                  <a:pt x="36016" y="111294"/>
                </a:cubicBezTo>
                <a:cubicBezTo>
                  <a:pt x="36493" y="110907"/>
                  <a:pt x="36493" y="110133"/>
                  <a:pt x="36016" y="109448"/>
                </a:cubicBezTo>
                <a:cubicBezTo>
                  <a:pt x="35600" y="108764"/>
                  <a:pt x="34826" y="108466"/>
                  <a:pt x="34350" y="10885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10073" y="4539825"/>
            <a:ext cx="147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 Octoverse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7023" y="4920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10073" y="4870025"/>
            <a:ext cx="102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TIOBE Index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6073" y="52510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1010073" y="5200225"/>
            <a:ext cx="135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Reports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35413" y="4095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16650" y="2910840"/>
            <a:ext cx="3219873" cy="2749973"/>
          </a:xfrm>
          <a:custGeom>
            <a:avLst/>
            <a:gdLst/>
            <a:ahLst/>
            <a:cxnLst/>
            <a:rect l="l" t="t" r="r" b="b"/>
            <a:pathLst>
              <a:path w="3219873" h="2749973">
                <a:moveTo>
                  <a:pt x="152404" y="0"/>
                </a:moveTo>
                <a:lnTo>
                  <a:pt x="3067470" y="0"/>
                </a:lnTo>
                <a:cubicBezTo>
                  <a:pt x="3151640" y="0"/>
                  <a:pt x="3219873" y="68233"/>
                  <a:pt x="3219873" y="152404"/>
                </a:cubicBezTo>
                <a:lnTo>
                  <a:pt x="3219873" y="2597570"/>
                </a:lnTo>
                <a:cubicBezTo>
                  <a:pt x="3219873" y="2681740"/>
                  <a:pt x="3151640" y="2749973"/>
                  <a:pt x="3067470" y="2749973"/>
                </a:cubicBezTo>
                <a:lnTo>
                  <a:pt x="152404" y="2749973"/>
                </a:lnTo>
                <a:cubicBezTo>
                  <a:pt x="68233" y="2749973"/>
                  <a:pt x="0" y="2681740"/>
                  <a:pt x="0" y="2597570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23236" y="3117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4880928" y="3244425"/>
            <a:ext cx="41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5236" y="3244425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42286" y="3930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Text 23"/>
          <p:cNvSpPr/>
          <p:nvPr/>
        </p:nvSpPr>
        <p:spPr>
          <a:xfrm>
            <a:off x="5015336" y="3879425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Aggregated 5+ sources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51811" y="42604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5015336" y="4209625"/>
            <a:ext cx="140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Q1-Q4 2025 data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42286" y="4590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9" name="Text 27"/>
          <p:cNvSpPr/>
          <p:nvPr/>
        </p:nvSpPr>
        <p:spPr>
          <a:xfrm>
            <a:off x="5015336" y="4539825"/>
            <a:ext cx="1092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scope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23236" y="49208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5015336" y="4870025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49,000+ developers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42286" y="5251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9531" y="14288"/>
                </a:moveTo>
                <a:lnTo>
                  <a:pt x="92869" y="14288"/>
                </a:lnTo>
                <a:cubicBezTo>
                  <a:pt x="94178" y="14288"/>
                  <a:pt x="95250" y="15359"/>
                  <a:pt x="95250" y="16669"/>
                </a:cubicBezTo>
                <a:lnTo>
                  <a:pt x="95250" y="28575"/>
                </a:lnTo>
                <a:lnTo>
                  <a:pt x="57150" y="28575"/>
                </a:lnTo>
                <a:lnTo>
                  <a:pt x="57150" y="16669"/>
                </a:lnTo>
                <a:cubicBezTo>
                  <a:pt x="57150" y="15359"/>
                  <a:pt x="58222" y="14288"/>
                  <a:pt x="59531" y="14288"/>
                </a:cubicBezTo>
                <a:close/>
                <a:moveTo>
                  <a:pt x="42863" y="16669"/>
                </a:moveTo>
                <a:lnTo>
                  <a:pt x="42863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76200"/>
                </a:lnTo>
                <a:lnTo>
                  <a:pt x="152400" y="76200"/>
                </a:ln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09537" y="28575"/>
                </a:lnTo>
                <a:lnTo>
                  <a:pt x="109537" y="16669"/>
                </a:lnTo>
                <a:cubicBezTo>
                  <a:pt x="109537" y="7471"/>
                  <a:pt x="102066" y="0"/>
                  <a:pt x="92869" y="0"/>
                </a:cubicBezTo>
                <a:lnTo>
                  <a:pt x="59531" y="0"/>
                </a:lnTo>
                <a:cubicBezTo>
                  <a:pt x="50334" y="0"/>
                  <a:pt x="42863" y="7471"/>
                  <a:pt x="42863" y="16669"/>
                </a:cubicBezTo>
                <a:close/>
                <a:moveTo>
                  <a:pt x="152400" y="90488"/>
                </a:moveTo>
                <a:lnTo>
                  <a:pt x="95250" y="90488"/>
                </a:lnTo>
                <a:lnTo>
                  <a:pt x="95250" y="95250"/>
                </a:lnTo>
                <a:cubicBezTo>
                  <a:pt x="95250" y="100519"/>
                  <a:pt x="90994" y="104775"/>
                  <a:pt x="85725" y="104775"/>
                </a:cubicBezTo>
                <a:lnTo>
                  <a:pt x="66675" y="104775"/>
                </a:lnTo>
                <a:cubicBezTo>
                  <a:pt x="61406" y="104775"/>
                  <a:pt x="57150" y="100519"/>
                  <a:pt x="57150" y="95250"/>
                </a:cubicBezTo>
                <a:lnTo>
                  <a:pt x="57150" y="90488"/>
                </a:lnTo>
                <a:lnTo>
                  <a:pt x="0" y="90488"/>
                </a:ln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90488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3" name="Text 31"/>
          <p:cNvSpPr/>
          <p:nvPr/>
        </p:nvSpPr>
        <p:spPr>
          <a:xfrm>
            <a:off x="5015336" y="5200225"/>
            <a:ext cx="157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market analysis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940676" y="4095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8521912" y="2910840"/>
            <a:ext cx="3219873" cy="2749973"/>
          </a:xfrm>
          <a:custGeom>
            <a:avLst/>
            <a:gdLst/>
            <a:ahLst/>
            <a:cxnLst/>
            <a:rect l="l" t="t" r="r" b="b"/>
            <a:pathLst>
              <a:path w="3219873" h="2749973">
                <a:moveTo>
                  <a:pt x="152404" y="0"/>
                </a:moveTo>
                <a:lnTo>
                  <a:pt x="3067470" y="0"/>
                </a:lnTo>
                <a:cubicBezTo>
                  <a:pt x="3151640" y="0"/>
                  <a:pt x="3219873" y="68233"/>
                  <a:pt x="3219873" y="152404"/>
                </a:cubicBezTo>
                <a:lnTo>
                  <a:pt x="3219873" y="2597570"/>
                </a:lnTo>
                <a:cubicBezTo>
                  <a:pt x="3219873" y="2681740"/>
                  <a:pt x="3151640" y="2749973"/>
                  <a:pt x="3067470" y="2749973"/>
                </a:cubicBezTo>
                <a:lnTo>
                  <a:pt x="152404" y="2749973"/>
                </a:lnTo>
                <a:cubicBezTo>
                  <a:pt x="68233" y="2749973"/>
                  <a:pt x="0" y="2681740"/>
                  <a:pt x="0" y="2597570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28499" y="3117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7" name="Text 35"/>
          <p:cNvSpPr/>
          <p:nvPr/>
        </p:nvSpPr>
        <p:spPr>
          <a:xfrm>
            <a:off x="8882910" y="3244425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90499" y="3244425"/>
            <a:ext cx="111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728499" y="39302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0" name="Text 38"/>
          <p:cNvSpPr/>
          <p:nvPr/>
        </p:nvSpPr>
        <p:spPr>
          <a:xfrm>
            <a:off x="9020599" y="3879425"/>
            <a:ext cx="158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Normalized metrics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747549" y="4260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19050"/>
                </a:moveTo>
                <a:cubicBezTo>
                  <a:pt x="5685" y="19050"/>
                  <a:pt x="2203" y="21372"/>
                  <a:pt x="714" y="24944"/>
                </a:cubicBezTo>
                <a:cubicBezTo>
                  <a:pt x="-774" y="28515"/>
                  <a:pt x="60" y="32593"/>
                  <a:pt x="2798" y="35302"/>
                </a:cubicBezTo>
                <a:lnTo>
                  <a:pt x="57150" y="89684"/>
                </a:lnTo>
                <a:lnTo>
                  <a:pt x="57150" y="123825"/>
                </a:lnTo>
                <a:cubicBezTo>
                  <a:pt x="57150" y="126355"/>
                  <a:pt x="58162" y="128766"/>
                  <a:pt x="59948" y="130552"/>
                </a:cubicBezTo>
                <a:lnTo>
                  <a:pt x="78998" y="149602"/>
                </a:lnTo>
                <a:cubicBezTo>
                  <a:pt x="81736" y="152340"/>
                  <a:pt x="85814" y="153144"/>
                  <a:pt x="89386" y="151656"/>
                </a:cubicBezTo>
                <a:cubicBezTo>
                  <a:pt x="92958" y="150168"/>
                  <a:pt x="95250" y="146715"/>
                  <a:pt x="95250" y="142875"/>
                </a:cubicBezTo>
                <a:lnTo>
                  <a:pt x="95250" y="89684"/>
                </a:lnTo>
                <a:lnTo>
                  <a:pt x="149602" y="35332"/>
                </a:lnTo>
                <a:cubicBezTo>
                  <a:pt x="152340" y="32593"/>
                  <a:pt x="153144" y="28515"/>
                  <a:pt x="151656" y="24944"/>
                </a:cubicBezTo>
                <a:cubicBezTo>
                  <a:pt x="150168" y="21372"/>
                  <a:pt x="146715" y="19050"/>
                  <a:pt x="142875" y="19050"/>
                </a:cubicBezTo>
                <a:lnTo>
                  <a:pt x="9525" y="1905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2" name="Text 40"/>
          <p:cNvSpPr/>
          <p:nvPr/>
        </p:nvSpPr>
        <p:spPr>
          <a:xfrm>
            <a:off x="9020599" y="4209625"/>
            <a:ext cx="143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Removed outliers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766599" y="45906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4" name="Text 42"/>
          <p:cNvSpPr/>
          <p:nvPr/>
        </p:nvSpPr>
        <p:spPr>
          <a:xfrm>
            <a:off x="9020599" y="4539825"/>
            <a:ext cx="130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Cross-validated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747549" y="4920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6" name="Text 44"/>
          <p:cNvSpPr/>
          <p:nvPr/>
        </p:nvSpPr>
        <p:spPr>
          <a:xfrm>
            <a:off x="9020599" y="4870025"/>
            <a:ext cx="156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Multi-source verify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747549" y="5251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8" name="Text 46"/>
          <p:cNvSpPr/>
          <p:nvPr/>
        </p:nvSpPr>
        <p:spPr>
          <a:xfrm>
            <a:off x="9020599" y="5200225"/>
            <a:ext cx="146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945938" y="4095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0" name="Shape 48"/>
          <p:cNvSpPr/>
          <p:nvPr/>
        </p:nvSpPr>
        <p:spPr>
          <a:xfrm>
            <a:off x="12527175" y="2910840"/>
            <a:ext cx="3219873" cy="2749973"/>
          </a:xfrm>
          <a:custGeom>
            <a:avLst/>
            <a:gdLst/>
            <a:ahLst/>
            <a:cxnLst/>
            <a:rect l="l" t="t" r="r" b="b"/>
            <a:pathLst>
              <a:path w="3219873" h="2749973">
                <a:moveTo>
                  <a:pt x="152404" y="0"/>
                </a:moveTo>
                <a:lnTo>
                  <a:pt x="3067470" y="0"/>
                </a:lnTo>
                <a:cubicBezTo>
                  <a:pt x="3151640" y="0"/>
                  <a:pt x="3219873" y="68233"/>
                  <a:pt x="3219873" y="152404"/>
                </a:cubicBezTo>
                <a:lnTo>
                  <a:pt x="3219873" y="2597570"/>
                </a:lnTo>
                <a:cubicBezTo>
                  <a:pt x="3219873" y="2681740"/>
                  <a:pt x="3151640" y="2749973"/>
                  <a:pt x="3067470" y="2749973"/>
                </a:cubicBezTo>
                <a:lnTo>
                  <a:pt x="152404" y="2749973"/>
                </a:lnTo>
                <a:cubicBezTo>
                  <a:pt x="68233" y="2749973"/>
                  <a:pt x="0" y="2681740"/>
                  <a:pt x="0" y="2597570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733762" y="3117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2" name="Text 50"/>
          <p:cNvSpPr/>
          <p:nvPr/>
        </p:nvSpPr>
        <p:spPr>
          <a:xfrm>
            <a:off x="12891559" y="3244425"/>
            <a:ext cx="41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3495762" y="3244425"/>
            <a:ext cx="106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2752812" y="3930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5" name="Text 53"/>
          <p:cNvSpPr/>
          <p:nvPr/>
        </p:nvSpPr>
        <p:spPr>
          <a:xfrm>
            <a:off x="13025862" y="3879425"/>
            <a:ext cx="157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 identification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2752812" y="4260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7" name="Text 55"/>
          <p:cNvSpPr/>
          <p:nvPr/>
        </p:nvSpPr>
        <p:spPr>
          <a:xfrm>
            <a:off x="13025862" y="4209625"/>
            <a:ext cx="160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analysis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2752812" y="4590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9531" y="14288"/>
                </a:moveTo>
                <a:lnTo>
                  <a:pt x="92869" y="14288"/>
                </a:lnTo>
                <a:cubicBezTo>
                  <a:pt x="94178" y="14288"/>
                  <a:pt x="95250" y="15359"/>
                  <a:pt x="95250" y="16669"/>
                </a:cubicBezTo>
                <a:lnTo>
                  <a:pt x="95250" y="28575"/>
                </a:lnTo>
                <a:lnTo>
                  <a:pt x="57150" y="28575"/>
                </a:lnTo>
                <a:lnTo>
                  <a:pt x="57150" y="16669"/>
                </a:lnTo>
                <a:cubicBezTo>
                  <a:pt x="57150" y="15359"/>
                  <a:pt x="58222" y="14288"/>
                  <a:pt x="59531" y="14288"/>
                </a:cubicBezTo>
                <a:close/>
                <a:moveTo>
                  <a:pt x="42863" y="16669"/>
                </a:moveTo>
                <a:lnTo>
                  <a:pt x="42863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76200"/>
                </a:lnTo>
                <a:lnTo>
                  <a:pt x="152400" y="76200"/>
                </a:ln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09537" y="28575"/>
                </a:lnTo>
                <a:lnTo>
                  <a:pt x="109537" y="16669"/>
                </a:lnTo>
                <a:cubicBezTo>
                  <a:pt x="109537" y="7471"/>
                  <a:pt x="102066" y="0"/>
                  <a:pt x="92869" y="0"/>
                </a:cubicBezTo>
                <a:lnTo>
                  <a:pt x="59531" y="0"/>
                </a:lnTo>
                <a:cubicBezTo>
                  <a:pt x="50334" y="0"/>
                  <a:pt x="42863" y="7471"/>
                  <a:pt x="42863" y="16669"/>
                </a:cubicBezTo>
                <a:close/>
                <a:moveTo>
                  <a:pt x="152400" y="90488"/>
                </a:moveTo>
                <a:lnTo>
                  <a:pt x="95250" y="90488"/>
                </a:lnTo>
                <a:lnTo>
                  <a:pt x="95250" y="95250"/>
                </a:lnTo>
                <a:cubicBezTo>
                  <a:pt x="95250" y="100519"/>
                  <a:pt x="90994" y="104775"/>
                  <a:pt x="85725" y="104775"/>
                </a:cubicBezTo>
                <a:lnTo>
                  <a:pt x="66675" y="104775"/>
                </a:lnTo>
                <a:cubicBezTo>
                  <a:pt x="61406" y="104775"/>
                  <a:pt x="57150" y="100519"/>
                  <a:pt x="57150" y="95250"/>
                </a:cubicBezTo>
                <a:lnTo>
                  <a:pt x="57150" y="90488"/>
                </a:lnTo>
                <a:lnTo>
                  <a:pt x="0" y="90488"/>
                </a:ln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90488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9" name="Text 57"/>
          <p:cNvSpPr/>
          <p:nvPr/>
        </p:nvSpPr>
        <p:spPr>
          <a:xfrm>
            <a:off x="13025862" y="4539825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2771862" y="49208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1" name="Text 59"/>
          <p:cNvSpPr/>
          <p:nvPr/>
        </p:nvSpPr>
        <p:spPr>
          <a:xfrm>
            <a:off x="13025862" y="4870025"/>
            <a:ext cx="138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insights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2752812" y="5251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3" name="Text 61"/>
          <p:cNvSpPr/>
          <p:nvPr/>
        </p:nvSpPr>
        <p:spPr>
          <a:xfrm>
            <a:off x="13025862" y="5200225"/>
            <a:ext cx="149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modeling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11387" y="5972387"/>
            <a:ext cx="15234073" cy="1429173"/>
          </a:xfrm>
          <a:custGeom>
            <a:avLst/>
            <a:gdLst/>
            <a:ahLst/>
            <a:cxnLst/>
            <a:rect l="l" t="t" r="r" b="b"/>
            <a:pathLst>
              <a:path w="15234073" h="1429173">
                <a:moveTo>
                  <a:pt x="152407" y="0"/>
                </a:moveTo>
                <a:lnTo>
                  <a:pt x="15081666" y="0"/>
                </a:lnTo>
                <a:cubicBezTo>
                  <a:pt x="15165838" y="0"/>
                  <a:pt x="15234073" y="68235"/>
                  <a:pt x="15234073" y="152407"/>
                </a:cubicBezTo>
                <a:lnTo>
                  <a:pt x="15234073" y="1276766"/>
                </a:lnTo>
                <a:cubicBezTo>
                  <a:pt x="15234073" y="1360938"/>
                  <a:pt x="15165838" y="1429173"/>
                  <a:pt x="15081666" y="1429173"/>
                </a:cubicBezTo>
                <a:lnTo>
                  <a:pt x="152407" y="1429173"/>
                </a:lnTo>
                <a:cubicBezTo>
                  <a:pt x="68235" y="1429173"/>
                  <a:pt x="0" y="1360938"/>
                  <a:pt x="0" y="1276766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6773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60836" y="6496472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82984" y="-19273"/>
                </a:moveTo>
                <a:cubicBezTo>
                  <a:pt x="173013" y="-25375"/>
                  <a:pt x="160437" y="-25375"/>
                  <a:pt x="150465" y="-19273"/>
                </a:cubicBezTo>
                <a:cubicBezTo>
                  <a:pt x="132308" y="-8186"/>
                  <a:pt x="121072" y="-5209"/>
                  <a:pt x="99789" y="-5655"/>
                </a:cubicBezTo>
                <a:cubicBezTo>
                  <a:pt x="88106" y="-5953"/>
                  <a:pt x="77242" y="372"/>
                  <a:pt x="71586" y="10641"/>
                </a:cubicBezTo>
                <a:cubicBezTo>
                  <a:pt x="61392" y="29319"/>
                  <a:pt x="53132" y="37579"/>
                  <a:pt x="34454" y="47774"/>
                </a:cubicBezTo>
                <a:cubicBezTo>
                  <a:pt x="24185" y="53355"/>
                  <a:pt x="17934" y="64294"/>
                  <a:pt x="18157" y="75977"/>
                </a:cubicBezTo>
                <a:cubicBezTo>
                  <a:pt x="18678" y="97259"/>
                  <a:pt x="15627" y="108496"/>
                  <a:pt x="4539" y="126653"/>
                </a:cubicBezTo>
                <a:cubicBezTo>
                  <a:pt x="-1563" y="136624"/>
                  <a:pt x="-1563" y="149200"/>
                  <a:pt x="4539" y="159172"/>
                </a:cubicBezTo>
                <a:cubicBezTo>
                  <a:pt x="15627" y="177329"/>
                  <a:pt x="18604" y="188565"/>
                  <a:pt x="18157" y="209848"/>
                </a:cubicBezTo>
                <a:cubicBezTo>
                  <a:pt x="17859" y="221531"/>
                  <a:pt x="24185" y="232395"/>
                  <a:pt x="34454" y="238051"/>
                </a:cubicBezTo>
                <a:cubicBezTo>
                  <a:pt x="50899" y="247055"/>
                  <a:pt x="59234" y="254496"/>
                  <a:pt x="68014" y="268932"/>
                </a:cubicBezTo>
                <a:lnTo>
                  <a:pt x="31775" y="341188"/>
                </a:lnTo>
                <a:cubicBezTo>
                  <a:pt x="27384" y="350044"/>
                  <a:pt x="30956" y="360759"/>
                  <a:pt x="39737" y="365150"/>
                </a:cubicBezTo>
                <a:lnTo>
                  <a:pt x="103733" y="397148"/>
                </a:lnTo>
                <a:cubicBezTo>
                  <a:pt x="112291" y="401389"/>
                  <a:pt x="122709" y="398190"/>
                  <a:pt x="127322" y="389855"/>
                </a:cubicBezTo>
                <a:lnTo>
                  <a:pt x="166613" y="319088"/>
                </a:lnTo>
                <a:lnTo>
                  <a:pt x="205904" y="389855"/>
                </a:lnTo>
                <a:cubicBezTo>
                  <a:pt x="210517" y="398190"/>
                  <a:pt x="220935" y="401464"/>
                  <a:pt x="229493" y="397148"/>
                </a:cubicBezTo>
                <a:lnTo>
                  <a:pt x="293489" y="365150"/>
                </a:lnTo>
                <a:cubicBezTo>
                  <a:pt x="302344" y="360759"/>
                  <a:pt x="305916" y="350044"/>
                  <a:pt x="301451" y="341188"/>
                </a:cubicBezTo>
                <a:lnTo>
                  <a:pt x="265286" y="268858"/>
                </a:lnTo>
                <a:cubicBezTo>
                  <a:pt x="273993" y="254422"/>
                  <a:pt x="282401" y="246980"/>
                  <a:pt x="298847" y="237976"/>
                </a:cubicBezTo>
                <a:cubicBezTo>
                  <a:pt x="309116" y="232395"/>
                  <a:pt x="315367" y="221456"/>
                  <a:pt x="315144" y="209773"/>
                </a:cubicBezTo>
                <a:cubicBezTo>
                  <a:pt x="314623" y="188491"/>
                  <a:pt x="317674" y="177254"/>
                  <a:pt x="328761" y="159097"/>
                </a:cubicBezTo>
                <a:cubicBezTo>
                  <a:pt x="334863" y="149126"/>
                  <a:pt x="334863" y="136550"/>
                  <a:pt x="328761" y="126578"/>
                </a:cubicBezTo>
                <a:cubicBezTo>
                  <a:pt x="317674" y="108421"/>
                  <a:pt x="314697" y="97185"/>
                  <a:pt x="315144" y="75902"/>
                </a:cubicBezTo>
                <a:cubicBezTo>
                  <a:pt x="315441" y="64219"/>
                  <a:pt x="309116" y="53355"/>
                  <a:pt x="298847" y="47699"/>
                </a:cubicBezTo>
                <a:cubicBezTo>
                  <a:pt x="280169" y="37505"/>
                  <a:pt x="271909" y="29245"/>
                  <a:pt x="261714" y="10567"/>
                </a:cubicBezTo>
                <a:cubicBezTo>
                  <a:pt x="256133" y="298"/>
                  <a:pt x="245194" y="-5953"/>
                  <a:pt x="233511" y="-5730"/>
                </a:cubicBezTo>
                <a:cubicBezTo>
                  <a:pt x="212229" y="-5209"/>
                  <a:pt x="200992" y="-8260"/>
                  <a:pt x="182835" y="-19348"/>
                </a:cubicBezTo>
                <a:close/>
                <a:moveTo>
                  <a:pt x="166688" y="71438"/>
                </a:moveTo>
                <a:cubicBezTo>
                  <a:pt x="206115" y="71438"/>
                  <a:pt x="238125" y="103448"/>
                  <a:pt x="238125" y="142875"/>
                </a:cubicBezTo>
                <a:cubicBezTo>
                  <a:pt x="238125" y="182302"/>
                  <a:pt x="206115" y="214313"/>
                  <a:pt x="166688" y="214313"/>
                </a:cubicBezTo>
                <a:cubicBezTo>
                  <a:pt x="127260" y="214313"/>
                  <a:pt x="95250" y="182302"/>
                  <a:pt x="95250" y="142875"/>
                </a:cubicBezTo>
                <a:cubicBezTo>
                  <a:pt x="95250" y="103448"/>
                  <a:pt x="127260" y="71438"/>
                  <a:pt x="166687" y="7143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6" name="Text 64"/>
          <p:cNvSpPr/>
          <p:nvPr/>
        </p:nvSpPr>
        <p:spPr>
          <a:xfrm>
            <a:off x="1338686" y="6178972"/>
            <a:ext cx="1431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Commitment to Transparency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338686" y="6585372"/>
            <a:ext cx="14300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data points are traceable to authoritative sources. We employ rigorous statistical methods to ensure findings are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reproducible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unbiased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strategic decision-making.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08000"/>
            <a:ext cx="955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Trends: Programming Languages &amp; Databases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1200" y="1117600"/>
            <a:ext cx="151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leadership and adoption patterns across the technology landscape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1387" y="1679787"/>
            <a:ext cx="7487073" cy="5264573"/>
          </a:xfrm>
          <a:custGeom>
            <a:avLst/>
            <a:gdLst/>
            <a:ahLst/>
            <a:cxnLst/>
            <a:rect l="l" t="t" r="r" b="b"/>
            <a:pathLst>
              <a:path w="7487073" h="5264573">
                <a:moveTo>
                  <a:pt x="152409" y="0"/>
                </a:moveTo>
                <a:lnTo>
                  <a:pt x="7334664" y="0"/>
                </a:lnTo>
                <a:cubicBezTo>
                  <a:pt x="7418837" y="0"/>
                  <a:pt x="7487073" y="68236"/>
                  <a:pt x="7487073" y="152409"/>
                </a:cubicBezTo>
                <a:lnTo>
                  <a:pt x="7487073" y="5112164"/>
                </a:lnTo>
                <a:cubicBezTo>
                  <a:pt x="7487073" y="5196337"/>
                  <a:pt x="7418837" y="5264573"/>
                  <a:pt x="7334664" y="5264573"/>
                </a:cubicBezTo>
                <a:lnTo>
                  <a:pt x="152409" y="5264573"/>
                </a:lnTo>
                <a:cubicBezTo>
                  <a:pt x="68236" y="5264573"/>
                  <a:pt x="0" y="5196337"/>
                  <a:pt x="0" y="5112164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3848" y="1937172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1035473" y="1886372"/>
            <a:ext cx="688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10 Programming Languages</a:t>
            </a:r>
            <a:endParaRPr lang="en-US" sz="1600" dirty="0"/>
          </a:p>
        </p:txBody>
      </p:sp>
      <p:pic>
        <p:nvPicPr>
          <p:cNvPr id="8" name="Image 0" descr="https://kimi-img.moonshot.cn/pub/slides/26-03-13-17:19:42-d6ptdbivqs85bo7cd300">    </p:cNvPr>
          <p:cNvPicPr>
            <a:picLocks noChangeAspect="1"/>
          </p:cNvPicPr>
          <p:nvPr/>
        </p:nvPicPr>
        <p:blipFill>
          <a:blip r:embed="rId1"/>
          <a:srcRect l="40" r="40" t="0" b="0"/>
          <a:stretch/>
        </p:blipFill>
        <p:spPr>
          <a:xfrm>
            <a:off x="717973" y="2343572"/>
            <a:ext cx="7073900" cy="4394200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8258387" y="1679787"/>
            <a:ext cx="7487073" cy="5264573"/>
          </a:xfrm>
          <a:custGeom>
            <a:avLst/>
            <a:gdLst/>
            <a:ahLst/>
            <a:cxnLst/>
            <a:rect l="l" t="t" r="r" b="b"/>
            <a:pathLst>
              <a:path w="7487073" h="5264573">
                <a:moveTo>
                  <a:pt x="152409" y="0"/>
                </a:moveTo>
                <a:lnTo>
                  <a:pt x="7334664" y="0"/>
                </a:lnTo>
                <a:cubicBezTo>
                  <a:pt x="7418837" y="0"/>
                  <a:pt x="7487073" y="68236"/>
                  <a:pt x="7487073" y="152409"/>
                </a:cubicBezTo>
                <a:lnTo>
                  <a:pt x="7487073" y="5112164"/>
                </a:lnTo>
                <a:cubicBezTo>
                  <a:pt x="7487073" y="5196337"/>
                  <a:pt x="7418837" y="5264573"/>
                  <a:pt x="7334664" y="5264573"/>
                </a:cubicBezTo>
                <a:lnTo>
                  <a:pt x="152409" y="5264573"/>
                </a:lnTo>
                <a:cubicBezTo>
                  <a:pt x="68236" y="5264573"/>
                  <a:pt x="0" y="5196337"/>
                  <a:pt x="0" y="5112164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12599" y="1937172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8"/>
          <p:cNvSpPr/>
          <p:nvPr/>
        </p:nvSpPr>
        <p:spPr>
          <a:xfrm>
            <a:off x="8782474" y="1886372"/>
            <a:ext cx="688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10 Databases</a:t>
            </a:r>
            <a:endParaRPr lang="en-US" sz="1600" dirty="0"/>
          </a:p>
        </p:txBody>
      </p:sp>
      <p:pic>
        <p:nvPicPr>
          <p:cNvPr id="12" name="Image 1" descr="https://kimi-img.moonshot.cn/pub/slides/26-03-13-17:19:42-d6ptdbi7ch94tp5di3cg">    </p:cNvPr>
          <p:cNvPicPr>
            <a:picLocks noChangeAspect="1"/>
          </p:cNvPicPr>
          <p:nvPr/>
        </p:nvPicPr>
        <p:blipFill>
          <a:blip r:embed="rId2"/>
          <a:srcRect l="40" r="40" t="0" b="0"/>
          <a:stretch/>
        </p:blipFill>
        <p:spPr>
          <a:xfrm>
            <a:off x="8464974" y="2343572"/>
            <a:ext cx="7073900" cy="4394200"/>
          </a:xfrm>
          <a:prstGeom prst="roundRect">
            <a:avLst>
              <a:gd name="adj" fmla="val 0"/>
            </a:avLst>
          </a:prstGeom>
        </p:spPr>
      </p:pic>
      <p:sp>
        <p:nvSpPr>
          <p:cNvPr id="13" name="Shape 9"/>
          <p:cNvSpPr/>
          <p:nvPr/>
        </p:nvSpPr>
        <p:spPr>
          <a:xfrm>
            <a:off x="511387" y="7154333"/>
            <a:ext cx="15234073" cy="1479973"/>
          </a:xfrm>
          <a:custGeom>
            <a:avLst/>
            <a:gdLst/>
            <a:ahLst/>
            <a:cxnLst/>
            <a:rect l="l" t="t" r="r" b="b"/>
            <a:pathLst>
              <a:path w="15234073" h="1479973">
                <a:moveTo>
                  <a:pt x="152393" y="0"/>
                </a:moveTo>
                <a:lnTo>
                  <a:pt x="15081680" y="0"/>
                </a:lnTo>
                <a:cubicBezTo>
                  <a:pt x="15165845" y="0"/>
                  <a:pt x="15234073" y="68229"/>
                  <a:pt x="15234073" y="152393"/>
                </a:cubicBezTo>
                <a:lnTo>
                  <a:pt x="15234073" y="1327580"/>
                </a:lnTo>
                <a:cubicBezTo>
                  <a:pt x="15234073" y="1411745"/>
                  <a:pt x="15165845" y="1479973"/>
                  <a:pt x="15081680" y="1479973"/>
                </a:cubicBezTo>
                <a:lnTo>
                  <a:pt x="152393" y="1479973"/>
                </a:lnTo>
                <a:cubicBezTo>
                  <a:pt x="68285" y="1479973"/>
                  <a:pt x="0" y="1411688"/>
                  <a:pt x="0" y="1327580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 w="6773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6223" y="74117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1"/>
          <p:cNvSpPr/>
          <p:nvPr/>
        </p:nvSpPr>
        <p:spPr>
          <a:xfrm>
            <a:off x="1156970" y="7360918"/>
            <a:ext cx="1449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 Forecast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156970" y="7767318"/>
            <a:ext cx="1447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 demand will accelerate adoption of Python, TypeScript, and PostgreSQL through 2026.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Organizations investing in these technologies today will capture competitive advantages as the market continues its shift toward AI-enabled, cloud-native development.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08000"/>
            <a:ext cx="4940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Findings &amp; Implications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1200" y="1117600"/>
            <a:ext cx="151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Connecting technology trends to strategic business impact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1707" y="1676406"/>
            <a:ext cx="15212907" cy="2603500"/>
          </a:xfrm>
          <a:custGeom>
            <a:avLst/>
            <a:gdLst/>
            <a:ahLst/>
            <a:cxnLst/>
            <a:rect l="l" t="t" r="r" b="b"/>
            <a:pathLst>
              <a:path w="15212907" h="2603500">
                <a:moveTo>
                  <a:pt x="47413" y="0"/>
                </a:moveTo>
                <a:lnTo>
                  <a:pt x="15060498" y="0"/>
                </a:lnTo>
                <a:cubicBezTo>
                  <a:pt x="15144671" y="0"/>
                  <a:pt x="15212907" y="68236"/>
                  <a:pt x="15212907" y="152409"/>
                </a:cubicBezTo>
                <a:lnTo>
                  <a:pt x="15212907" y="2451091"/>
                </a:lnTo>
                <a:cubicBezTo>
                  <a:pt x="15212907" y="2535264"/>
                  <a:pt x="15144671" y="2603500"/>
                  <a:pt x="15060498" y="2603500"/>
                </a:cubicBezTo>
                <a:lnTo>
                  <a:pt x="47413" y="2603500"/>
                </a:lnTo>
                <a:cubicBezTo>
                  <a:pt x="21228" y="2603500"/>
                  <a:pt x="0" y="2582272"/>
                  <a:pt x="0" y="25560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531707" y="1676406"/>
            <a:ext cx="47413" cy="2603500"/>
          </a:xfrm>
          <a:custGeom>
            <a:avLst/>
            <a:gdLst/>
            <a:ahLst/>
            <a:cxnLst/>
            <a:rect l="l" t="t" r="r" b="b"/>
            <a:pathLst>
              <a:path w="47413" h="2603500">
                <a:moveTo>
                  <a:pt x="47413" y="0"/>
                </a:moveTo>
                <a:lnTo>
                  <a:pt x="47413" y="0"/>
                </a:lnTo>
                <a:lnTo>
                  <a:pt x="47413" y="2603500"/>
                </a:lnTo>
                <a:lnTo>
                  <a:pt x="47413" y="2603500"/>
                </a:lnTo>
                <a:cubicBezTo>
                  <a:pt x="21228" y="2603500"/>
                  <a:pt x="0" y="2582272"/>
                  <a:pt x="0" y="25560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Shape 5"/>
          <p:cNvSpPr/>
          <p:nvPr/>
        </p:nvSpPr>
        <p:spPr>
          <a:xfrm>
            <a:off x="758613" y="187960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40647" y="2006606"/>
            <a:ext cx="36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71413" y="1879606"/>
            <a:ext cx="977900" cy="355600"/>
          </a:xfrm>
          <a:custGeom>
            <a:avLst/>
            <a:gdLst/>
            <a:ahLst/>
            <a:cxnLst/>
            <a:rect l="l" t="t" r="r" b="b"/>
            <a:pathLst>
              <a:path w="977900" h="355600">
                <a:moveTo>
                  <a:pt x="177800" y="0"/>
                </a:moveTo>
                <a:lnTo>
                  <a:pt x="800100" y="0"/>
                </a:lnTo>
                <a:cubicBezTo>
                  <a:pt x="898230" y="0"/>
                  <a:pt x="977900" y="79670"/>
                  <a:pt x="977900" y="177800"/>
                </a:cubicBezTo>
                <a:lnTo>
                  <a:pt x="977900" y="177800"/>
                </a:lnTo>
                <a:cubicBezTo>
                  <a:pt x="977900" y="275930"/>
                  <a:pt x="898230" y="355600"/>
                  <a:pt x="8001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571413" y="1879606"/>
            <a:ext cx="10668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71413" y="2336806"/>
            <a:ext cx="1408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dominates AI/ML with 45.7% recruiter demand and 67% developer usage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74800" y="2797393"/>
            <a:ext cx="13964073" cy="1276773"/>
          </a:xfrm>
          <a:custGeom>
            <a:avLst/>
            <a:gdLst/>
            <a:ahLst/>
            <a:cxnLst/>
            <a:rect l="l" t="t" r="r" b="b"/>
            <a:pathLst>
              <a:path w="13964073" h="1276773">
                <a:moveTo>
                  <a:pt x="101606" y="0"/>
                </a:moveTo>
                <a:lnTo>
                  <a:pt x="13862468" y="0"/>
                </a:lnTo>
                <a:cubicBezTo>
                  <a:pt x="13918583" y="0"/>
                  <a:pt x="13964073" y="45490"/>
                  <a:pt x="13964073" y="101606"/>
                </a:cubicBezTo>
                <a:lnTo>
                  <a:pt x="13964073" y="1175168"/>
                </a:lnTo>
                <a:cubicBezTo>
                  <a:pt x="13964073" y="1231283"/>
                  <a:pt x="13918583" y="1276773"/>
                  <a:pt x="13862468" y="1276773"/>
                </a:cubicBezTo>
                <a:lnTo>
                  <a:pt x="101606" y="1276773"/>
                </a:lnTo>
                <a:cubicBezTo>
                  <a:pt x="45490" y="1276773"/>
                  <a:pt x="0" y="1231283"/>
                  <a:pt x="0" y="1175168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55987" y="2978578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2086187" y="2953178"/>
            <a:ext cx="142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IT MEANS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0587" y="3257978"/>
            <a:ext cx="13754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Organizations must prioritize Python skills for AI initiatives or face critical talent shortages. Python has become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infrastructure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generative AI, data science, and machine learning workloads.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1707" y="4433150"/>
            <a:ext cx="15212907" cy="2603500"/>
          </a:xfrm>
          <a:custGeom>
            <a:avLst/>
            <a:gdLst/>
            <a:ahLst/>
            <a:cxnLst/>
            <a:rect l="l" t="t" r="r" b="b"/>
            <a:pathLst>
              <a:path w="15212907" h="2603500">
                <a:moveTo>
                  <a:pt x="47413" y="0"/>
                </a:moveTo>
                <a:lnTo>
                  <a:pt x="15060498" y="0"/>
                </a:lnTo>
                <a:cubicBezTo>
                  <a:pt x="15144671" y="0"/>
                  <a:pt x="15212907" y="68236"/>
                  <a:pt x="15212907" y="152409"/>
                </a:cubicBezTo>
                <a:lnTo>
                  <a:pt x="15212907" y="2451091"/>
                </a:lnTo>
                <a:cubicBezTo>
                  <a:pt x="15212907" y="2535264"/>
                  <a:pt x="15144671" y="2603500"/>
                  <a:pt x="15060498" y="2603500"/>
                </a:cubicBezTo>
                <a:lnTo>
                  <a:pt x="47413" y="2603500"/>
                </a:lnTo>
                <a:cubicBezTo>
                  <a:pt x="21228" y="2603500"/>
                  <a:pt x="0" y="2582272"/>
                  <a:pt x="0" y="25560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531707" y="4433150"/>
            <a:ext cx="47413" cy="2603500"/>
          </a:xfrm>
          <a:custGeom>
            <a:avLst/>
            <a:gdLst/>
            <a:ahLst/>
            <a:cxnLst/>
            <a:rect l="l" t="t" r="r" b="b"/>
            <a:pathLst>
              <a:path w="47413" h="2603500">
                <a:moveTo>
                  <a:pt x="47413" y="0"/>
                </a:moveTo>
                <a:lnTo>
                  <a:pt x="47413" y="0"/>
                </a:lnTo>
                <a:lnTo>
                  <a:pt x="47413" y="2603500"/>
                </a:lnTo>
                <a:lnTo>
                  <a:pt x="47413" y="2603500"/>
                </a:lnTo>
                <a:cubicBezTo>
                  <a:pt x="21228" y="2603500"/>
                  <a:pt x="0" y="2582272"/>
                  <a:pt x="0" y="25560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613" y="4636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16305" y="4763350"/>
            <a:ext cx="41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571413" y="4636350"/>
            <a:ext cx="977900" cy="355600"/>
          </a:xfrm>
          <a:custGeom>
            <a:avLst/>
            <a:gdLst/>
            <a:ahLst/>
            <a:cxnLst/>
            <a:rect l="l" t="t" r="r" b="b"/>
            <a:pathLst>
              <a:path w="977900" h="355600">
                <a:moveTo>
                  <a:pt x="177800" y="0"/>
                </a:moveTo>
                <a:lnTo>
                  <a:pt x="800100" y="0"/>
                </a:lnTo>
                <a:cubicBezTo>
                  <a:pt x="898230" y="0"/>
                  <a:pt x="977900" y="79670"/>
                  <a:pt x="977900" y="177800"/>
                </a:cubicBezTo>
                <a:lnTo>
                  <a:pt x="977900" y="177800"/>
                </a:lnTo>
                <a:cubicBezTo>
                  <a:pt x="977900" y="275930"/>
                  <a:pt x="898230" y="355600"/>
                  <a:pt x="8001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571413" y="4636350"/>
            <a:ext cx="10668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71413" y="5093550"/>
            <a:ext cx="1408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 achieves 55.6% developer adoption with +6.9% YoY growth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574800" y="5554136"/>
            <a:ext cx="13964073" cy="1276773"/>
          </a:xfrm>
          <a:custGeom>
            <a:avLst/>
            <a:gdLst/>
            <a:ahLst/>
            <a:cxnLst/>
            <a:rect l="l" t="t" r="r" b="b"/>
            <a:pathLst>
              <a:path w="13964073" h="1276773">
                <a:moveTo>
                  <a:pt x="101606" y="0"/>
                </a:moveTo>
                <a:lnTo>
                  <a:pt x="13862468" y="0"/>
                </a:lnTo>
                <a:cubicBezTo>
                  <a:pt x="13918583" y="0"/>
                  <a:pt x="13964073" y="45490"/>
                  <a:pt x="13964073" y="101606"/>
                </a:cubicBezTo>
                <a:lnTo>
                  <a:pt x="13964073" y="1175168"/>
                </a:lnTo>
                <a:cubicBezTo>
                  <a:pt x="13964073" y="1231283"/>
                  <a:pt x="13918583" y="1276773"/>
                  <a:pt x="13862468" y="1276773"/>
                </a:cubicBezTo>
                <a:lnTo>
                  <a:pt x="101606" y="1276773"/>
                </a:lnTo>
                <a:cubicBezTo>
                  <a:pt x="45490" y="1276773"/>
                  <a:pt x="0" y="1231283"/>
                  <a:pt x="0" y="1175168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55987" y="573532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Text 23"/>
          <p:cNvSpPr/>
          <p:nvPr/>
        </p:nvSpPr>
        <p:spPr>
          <a:xfrm>
            <a:off x="2086187" y="5709921"/>
            <a:ext cx="142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IT MEANS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30587" y="6014721"/>
            <a:ext cx="13754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Migration from legacy databases to PostgreSQL reduces licensing costs and improves scalability. It's the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top-4 database showing consistent growth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signaling a fundamental market shift toward open-source.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1707" y="7189899"/>
            <a:ext cx="7516707" cy="1816100"/>
          </a:xfrm>
          <a:custGeom>
            <a:avLst/>
            <a:gdLst/>
            <a:ahLst/>
            <a:cxnLst/>
            <a:rect l="l" t="t" r="r" b="b"/>
            <a:pathLst>
              <a:path w="7516707" h="1816100">
                <a:moveTo>
                  <a:pt x="47413" y="0"/>
                </a:moveTo>
                <a:lnTo>
                  <a:pt x="7364300" y="0"/>
                </a:lnTo>
                <a:cubicBezTo>
                  <a:pt x="7448472" y="0"/>
                  <a:pt x="7516707" y="68235"/>
                  <a:pt x="7516707" y="152407"/>
                </a:cubicBezTo>
                <a:lnTo>
                  <a:pt x="7516707" y="1663693"/>
                </a:lnTo>
                <a:cubicBezTo>
                  <a:pt x="7516707" y="1747865"/>
                  <a:pt x="7448472" y="1816100"/>
                  <a:pt x="7364300" y="1816100"/>
                </a:cubicBezTo>
                <a:lnTo>
                  <a:pt x="47413" y="1816100"/>
                </a:lnTo>
                <a:cubicBezTo>
                  <a:pt x="21228" y="1816100"/>
                  <a:pt x="0" y="1794872"/>
                  <a:pt x="0" y="17686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531707" y="7189899"/>
            <a:ext cx="47413" cy="1816100"/>
          </a:xfrm>
          <a:custGeom>
            <a:avLst/>
            <a:gdLst/>
            <a:ahLst/>
            <a:cxnLst/>
            <a:rect l="l" t="t" r="r" b="b"/>
            <a:pathLst>
              <a:path w="47413" h="1816100">
                <a:moveTo>
                  <a:pt x="47413" y="0"/>
                </a:moveTo>
                <a:lnTo>
                  <a:pt x="47413" y="0"/>
                </a:lnTo>
                <a:lnTo>
                  <a:pt x="47413" y="1816100"/>
                </a:lnTo>
                <a:lnTo>
                  <a:pt x="47413" y="1816100"/>
                </a:lnTo>
                <a:cubicBezTo>
                  <a:pt x="21228" y="1816100"/>
                  <a:pt x="0" y="1794872"/>
                  <a:pt x="0" y="17686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758613" y="739309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77253" y="7469299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419013" y="7435428"/>
            <a:ext cx="787400" cy="254000"/>
          </a:xfrm>
          <a:custGeom>
            <a:avLst/>
            <a:gdLst/>
            <a:ahLst/>
            <a:cxnLst/>
            <a:rect l="l" t="t" r="r" b="b"/>
            <a:pathLst>
              <a:path w="787400" h="254000">
                <a:moveTo>
                  <a:pt x="127000" y="0"/>
                </a:moveTo>
                <a:lnTo>
                  <a:pt x="660400" y="0"/>
                </a:lnTo>
                <a:cubicBezTo>
                  <a:pt x="730493" y="0"/>
                  <a:pt x="787400" y="56907"/>
                  <a:pt x="787400" y="127000"/>
                </a:cubicBezTo>
                <a:lnTo>
                  <a:pt x="787400" y="127000"/>
                </a:lnTo>
                <a:cubicBezTo>
                  <a:pt x="787400" y="197093"/>
                  <a:pt x="730493" y="254000"/>
                  <a:pt x="6604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419013" y="7435428"/>
            <a:ext cx="863600" cy="2540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19013" y="7740228"/>
            <a:ext cx="652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Cloud-native databases show 49%+ growth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422400" y="8099215"/>
            <a:ext cx="6420273" cy="705273"/>
          </a:xfrm>
          <a:custGeom>
            <a:avLst/>
            <a:gdLst/>
            <a:ahLst/>
            <a:cxnLst/>
            <a:rect l="l" t="t" r="r" b="b"/>
            <a:pathLst>
              <a:path w="6420273" h="705273">
                <a:moveTo>
                  <a:pt x="101602" y="0"/>
                </a:moveTo>
                <a:lnTo>
                  <a:pt x="6318672" y="0"/>
                </a:lnTo>
                <a:cubicBezTo>
                  <a:pt x="6374785" y="0"/>
                  <a:pt x="6420273" y="45489"/>
                  <a:pt x="6420273" y="101602"/>
                </a:cubicBezTo>
                <a:lnTo>
                  <a:pt x="6420273" y="603672"/>
                </a:lnTo>
                <a:cubicBezTo>
                  <a:pt x="6420273" y="659785"/>
                  <a:pt x="6374785" y="705273"/>
                  <a:pt x="6318672" y="705273"/>
                </a:cubicBezTo>
                <a:lnTo>
                  <a:pt x="101602" y="705273"/>
                </a:lnTo>
                <a:cubicBezTo>
                  <a:pt x="45489" y="705273"/>
                  <a:pt x="0" y="659785"/>
                  <a:pt x="0" y="603672"/>
                </a:cubicBezTo>
                <a:lnTo>
                  <a:pt x="0" y="101602"/>
                </a:lnTo>
                <a:cubicBezTo>
                  <a:pt x="0" y="45489"/>
                  <a:pt x="45489" y="0"/>
                  <a:pt x="1016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27387" y="8204206"/>
            <a:ext cx="629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it means:</a:t>
            </a:r>
            <a:pPr>
              <a:lnSpc>
                <a:spcPct val="11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Enterprises should evaluate cloud-first strategies to leverage auto-scaling and AI integration.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27907" y="7189899"/>
            <a:ext cx="7516707" cy="1816100"/>
          </a:xfrm>
          <a:custGeom>
            <a:avLst/>
            <a:gdLst/>
            <a:ahLst/>
            <a:cxnLst/>
            <a:rect l="l" t="t" r="r" b="b"/>
            <a:pathLst>
              <a:path w="7516707" h="1816100">
                <a:moveTo>
                  <a:pt x="47413" y="0"/>
                </a:moveTo>
                <a:lnTo>
                  <a:pt x="7364300" y="0"/>
                </a:lnTo>
                <a:cubicBezTo>
                  <a:pt x="7448472" y="0"/>
                  <a:pt x="7516707" y="68235"/>
                  <a:pt x="7516707" y="152407"/>
                </a:cubicBezTo>
                <a:lnTo>
                  <a:pt x="7516707" y="1663693"/>
                </a:lnTo>
                <a:cubicBezTo>
                  <a:pt x="7516707" y="1747865"/>
                  <a:pt x="7448472" y="1816100"/>
                  <a:pt x="7364300" y="1816100"/>
                </a:cubicBezTo>
                <a:lnTo>
                  <a:pt x="47413" y="1816100"/>
                </a:lnTo>
                <a:cubicBezTo>
                  <a:pt x="21228" y="1816100"/>
                  <a:pt x="0" y="1794872"/>
                  <a:pt x="0" y="17686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8227907" y="7189899"/>
            <a:ext cx="47413" cy="1816100"/>
          </a:xfrm>
          <a:custGeom>
            <a:avLst/>
            <a:gdLst/>
            <a:ahLst/>
            <a:cxnLst/>
            <a:rect l="l" t="t" r="r" b="b"/>
            <a:pathLst>
              <a:path w="47413" h="1816100">
                <a:moveTo>
                  <a:pt x="47413" y="0"/>
                </a:moveTo>
                <a:lnTo>
                  <a:pt x="47413" y="0"/>
                </a:lnTo>
                <a:lnTo>
                  <a:pt x="47413" y="1816100"/>
                </a:lnTo>
                <a:lnTo>
                  <a:pt x="47413" y="1816100"/>
                </a:lnTo>
                <a:cubicBezTo>
                  <a:pt x="21228" y="1816100"/>
                  <a:pt x="0" y="1794872"/>
                  <a:pt x="0" y="17686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8" name="Shape 36"/>
          <p:cNvSpPr/>
          <p:nvPr/>
        </p:nvSpPr>
        <p:spPr>
          <a:xfrm>
            <a:off x="8454814" y="739309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576522" y="7469299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115214" y="7435428"/>
            <a:ext cx="787400" cy="254000"/>
          </a:xfrm>
          <a:custGeom>
            <a:avLst/>
            <a:gdLst/>
            <a:ahLst/>
            <a:cxnLst/>
            <a:rect l="l" t="t" r="r" b="b"/>
            <a:pathLst>
              <a:path w="787400" h="254000">
                <a:moveTo>
                  <a:pt x="127000" y="0"/>
                </a:moveTo>
                <a:lnTo>
                  <a:pt x="660400" y="0"/>
                </a:lnTo>
                <a:cubicBezTo>
                  <a:pt x="730493" y="0"/>
                  <a:pt x="787400" y="56907"/>
                  <a:pt x="787400" y="127000"/>
                </a:cubicBezTo>
                <a:lnTo>
                  <a:pt x="787400" y="127000"/>
                </a:lnTo>
                <a:cubicBezTo>
                  <a:pt x="787400" y="197093"/>
                  <a:pt x="730493" y="254000"/>
                  <a:pt x="6604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115214" y="7435428"/>
            <a:ext cx="863600" cy="2540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115214" y="7740228"/>
            <a:ext cx="652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TypeScript overtakes Python on GitHub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118601" y="8099215"/>
            <a:ext cx="6420273" cy="705273"/>
          </a:xfrm>
          <a:custGeom>
            <a:avLst/>
            <a:gdLst/>
            <a:ahLst/>
            <a:cxnLst/>
            <a:rect l="l" t="t" r="r" b="b"/>
            <a:pathLst>
              <a:path w="6420273" h="705273">
                <a:moveTo>
                  <a:pt x="101602" y="0"/>
                </a:moveTo>
                <a:lnTo>
                  <a:pt x="6318672" y="0"/>
                </a:lnTo>
                <a:cubicBezTo>
                  <a:pt x="6374785" y="0"/>
                  <a:pt x="6420273" y="45489"/>
                  <a:pt x="6420273" y="101602"/>
                </a:cubicBezTo>
                <a:lnTo>
                  <a:pt x="6420273" y="603672"/>
                </a:lnTo>
                <a:cubicBezTo>
                  <a:pt x="6420273" y="659785"/>
                  <a:pt x="6374785" y="705273"/>
                  <a:pt x="6318672" y="705273"/>
                </a:cubicBezTo>
                <a:lnTo>
                  <a:pt x="101602" y="705273"/>
                </a:lnTo>
                <a:cubicBezTo>
                  <a:pt x="45489" y="705273"/>
                  <a:pt x="0" y="659785"/>
                  <a:pt x="0" y="603672"/>
                </a:cubicBezTo>
                <a:lnTo>
                  <a:pt x="0" y="101602"/>
                </a:lnTo>
                <a:cubicBezTo>
                  <a:pt x="0" y="45489"/>
                  <a:pt x="45489" y="0"/>
                  <a:pt x="1016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23587" y="8204206"/>
            <a:ext cx="629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it means:</a:t>
            </a:r>
            <a:pPr>
              <a:lnSpc>
                <a:spcPct val="11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Frontend and full-stack teams should adopt TypeScript for type safety and maintainability.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08000"/>
            <a:ext cx="5016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Dashboard: Key Metrics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1200" y="1117600"/>
            <a:ext cx="151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market indicators and performance benchmarks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1387" y="1679787"/>
            <a:ext cx="4934373" cy="5670973"/>
          </a:xfrm>
          <a:custGeom>
            <a:avLst/>
            <a:gdLst/>
            <a:ahLst/>
            <a:cxnLst/>
            <a:rect l="l" t="t" r="r" b="b"/>
            <a:pathLst>
              <a:path w="4934373" h="5670973">
                <a:moveTo>
                  <a:pt x="152423" y="0"/>
                </a:moveTo>
                <a:lnTo>
                  <a:pt x="4781951" y="0"/>
                </a:lnTo>
                <a:cubicBezTo>
                  <a:pt x="4866131" y="0"/>
                  <a:pt x="4934373" y="68242"/>
                  <a:pt x="4934373" y="152423"/>
                </a:cubicBezTo>
                <a:lnTo>
                  <a:pt x="4934373" y="5518551"/>
                </a:lnTo>
                <a:cubicBezTo>
                  <a:pt x="4934373" y="5602731"/>
                  <a:pt x="4866131" y="5670973"/>
                  <a:pt x="4781951" y="5670973"/>
                </a:cubicBezTo>
                <a:lnTo>
                  <a:pt x="152423" y="5670973"/>
                </a:lnTo>
                <a:cubicBezTo>
                  <a:pt x="68242" y="5670973"/>
                  <a:pt x="0" y="5602731"/>
                  <a:pt x="0" y="5518551"/>
                </a:cubicBezTo>
                <a:lnTo>
                  <a:pt x="0" y="152423"/>
                </a:lnTo>
                <a:cubicBezTo>
                  <a:pt x="0" y="68298"/>
                  <a:pt x="68298" y="0"/>
                  <a:pt x="15242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973" y="188637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4973" y="201337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9219" y="23812"/>
                </a:moveTo>
                <a:lnTo>
                  <a:pt x="154781" y="23812"/>
                </a:lnTo>
                <a:cubicBezTo>
                  <a:pt x="156964" y="23812"/>
                  <a:pt x="158750" y="25598"/>
                  <a:pt x="158750" y="27781"/>
                </a:cubicBezTo>
                <a:lnTo>
                  <a:pt x="158750" y="47625"/>
                </a:lnTo>
                <a:lnTo>
                  <a:pt x="95250" y="47625"/>
                </a:lnTo>
                <a:lnTo>
                  <a:pt x="95250" y="27781"/>
                </a:lnTo>
                <a:cubicBezTo>
                  <a:pt x="95250" y="25598"/>
                  <a:pt x="97036" y="23812"/>
                  <a:pt x="99219" y="23812"/>
                </a:cubicBezTo>
                <a:close/>
                <a:moveTo>
                  <a:pt x="71438" y="27781"/>
                </a:moveTo>
                <a:lnTo>
                  <a:pt x="71438" y="47625"/>
                </a:lnTo>
                <a:lnTo>
                  <a:pt x="31750" y="47625"/>
                </a:lnTo>
                <a:cubicBezTo>
                  <a:pt x="14238" y="47625"/>
                  <a:pt x="0" y="61863"/>
                  <a:pt x="0" y="79375"/>
                </a:cubicBezTo>
                <a:lnTo>
                  <a:pt x="0" y="127000"/>
                </a:lnTo>
                <a:lnTo>
                  <a:pt x="254000" y="127000"/>
                </a:lnTo>
                <a:lnTo>
                  <a:pt x="254000" y="79375"/>
                </a:lnTo>
                <a:cubicBezTo>
                  <a:pt x="254000" y="61863"/>
                  <a:pt x="239762" y="47625"/>
                  <a:pt x="222250" y="47625"/>
                </a:cubicBezTo>
                <a:lnTo>
                  <a:pt x="182563" y="47625"/>
                </a:lnTo>
                <a:lnTo>
                  <a:pt x="182563" y="27781"/>
                </a:lnTo>
                <a:cubicBezTo>
                  <a:pt x="182563" y="12452"/>
                  <a:pt x="170111" y="0"/>
                  <a:pt x="154781" y="0"/>
                </a:cubicBezTo>
                <a:lnTo>
                  <a:pt x="99219" y="0"/>
                </a:lnTo>
                <a:cubicBezTo>
                  <a:pt x="83889" y="0"/>
                  <a:pt x="71438" y="12452"/>
                  <a:pt x="71438" y="27781"/>
                </a:cubicBezTo>
                <a:close/>
                <a:moveTo>
                  <a:pt x="254000" y="150813"/>
                </a:moveTo>
                <a:lnTo>
                  <a:pt x="158750" y="150813"/>
                </a:lnTo>
                <a:lnTo>
                  <a:pt x="158750" y="158750"/>
                </a:lnTo>
                <a:cubicBezTo>
                  <a:pt x="158750" y="167531"/>
                  <a:pt x="151656" y="174625"/>
                  <a:pt x="142875" y="174625"/>
                </a:cubicBezTo>
                <a:lnTo>
                  <a:pt x="111125" y="174625"/>
                </a:lnTo>
                <a:cubicBezTo>
                  <a:pt x="102344" y="174625"/>
                  <a:pt x="95250" y="167531"/>
                  <a:pt x="95250" y="158750"/>
                </a:cubicBezTo>
                <a:lnTo>
                  <a:pt x="95250" y="150813"/>
                </a:lnTo>
                <a:lnTo>
                  <a:pt x="0" y="150813"/>
                </a:ln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222250" y="238125"/>
                </a:lnTo>
                <a:cubicBezTo>
                  <a:pt x="239762" y="238125"/>
                  <a:pt x="254000" y="223887"/>
                  <a:pt x="254000" y="206375"/>
                </a:cubicBezTo>
                <a:lnTo>
                  <a:pt x="254000" y="15081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1327573" y="1962572"/>
            <a:ext cx="214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Job Market Demand</a:t>
            </a:r>
            <a:endParaRPr lang="en-US" sz="1600" dirty="0"/>
          </a:p>
        </p:txBody>
      </p:sp>
      <p:pic>
        <p:nvPicPr>
          <p:cNvPr id="9" name="Image 0" descr="https://kimi-img.moonshot.cn/pub/slides/26-03-13-17:19:42-d6ptdbivb1u9kiv8ong0">    </p:cNvPr>
          <p:cNvPicPr>
            <a:picLocks noChangeAspect="1"/>
          </p:cNvPicPr>
          <p:nvPr/>
        </p:nvPicPr>
        <p:blipFill>
          <a:blip r:embed="rId1"/>
          <a:srcRect l="0" r="0" t="14" b="14"/>
          <a:stretch/>
        </p:blipFill>
        <p:spPr>
          <a:xfrm>
            <a:off x="717973" y="2546772"/>
            <a:ext cx="4521200" cy="3632200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721360" y="6338566"/>
            <a:ext cx="4515273" cy="806873"/>
          </a:xfrm>
          <a:custGeom>
            <a:avLst/>
            <a:gdLst/>
            <a:ahLst/>
            <a:cxnLst/>
            <a:rect l="l" t="t" r="r" b="b"/>
            <a:pathLst>
              <a:path w="4515273" h="806873">
                <a:moveTo>
                  <a:pt x="101601" y="0"/>
                </a:moveTo>
                <a:lnTo>
                  <a:pt x="4413672" y="0"/>
                </a:lnTo>
                <a:cubicBezTo>
                  <a:pt x="4469785" y="0"/>
                  <a:pt x="4515273" y="45489"/>
                  <a:pt x="4515273" y="101601"/>
                </a:cubicBezTo>
                <a:lnTo>
                  <a:pt x="4515273" y="705272"/>
                </a:lnTo>
                <a:cubicBezTo>
                  <a:pt x="4515273" y="761385"/>
                  <a:pt x="4469785" y="806873"/>
                  <a:pt x="4413672" y="806873"/>
                </a:cubicBezTo>
                <a:lnTo>
                  <a:pt x="101601" y="806873"/>
                </a:lnTo>
                <a:cubicBezTo>
                  <a:pt x="45526" y="806873"/>
                  <a:pt x="0" y="761347"/>
                  <a:pt x="0" y="705272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6773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02547" y="65214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9"/>
          <p:cNvSpPr/>
          <p:nvPr/>
        </p:nvSpPr>
        <p:spPr>
          <a:xfrm>
            <a:off x="1156547" y="6494357"/>
            <a:ext cx="4013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1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 job openings exceed JavaScript by </a:t>
            </a:r>
            <a:pPr>
              <a:lnSpc>
                <a:spcPct val="11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113%</a:t>
            </a:r>
            <a:pPr>
              <a:lnSpc>
                <a:spcPct val="11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reflecting AI-driven market shift.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59120" y="1679787"/>
            <a:ext cx="4934373" cy="5670973"/>
          </a:xfrm>
          <a:custGeom>
            <a:avLst/>
            <a:gdLst/>
            <a:ahLst/>
            <a:cxnLst/>
            <a:rect l="l" t="t" r="r" b="b"/>
            <a:pathLst>
              <a:path w="4934373" h="5670973">
                <a:moveTo>
                  <a:pt x="152423" y="0"/>
                </a:moveTo>
                <a:lnTo>
                  <a:pt x="4781951" y="0"/>
                </a:lnTo>
                <a:cubicBezTo>
                  <a:pt x="4866131" y="0"/>
                  <a:pt x="4934373" y="68242"/>
                  <a:pt x="4934373" y="152423"/>
                </a:cubicBezTo>
                <a:lnTo>
                  <a:pt x="4934373" y="5518551"/>
                </a:lnTo>
                <a:cubicBezTo>
                  <a:pt x="4934373" y="5602731"/>
                  <a:pt x="4866131" y="5670973"/>
                  <a:pt x="4781951" y="5670973"/>
                </a:cubicBezTo>
                <a:lnTo>
                  <a:pt x="152423" y="5670973"/>
                </a:lnTo>
                <a:cubicBezTo>
                  <a:pt x="68242" y="5670973"/>
                  <a:pt x="0" y="5602731"/>
                  <a:pt x="0" y="5518551"/>
                </a:cubicBezTo>
                <a:lnTo>
                  <a:pt x="0" y="152423"/>
                </a:lnTo>
                <a:cubicBezTo>
                  <a:pt x="0" y="68298"/>
                  <a:pt x="68298" y="0"/>
                  <a:pt x="15242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65707" y="188637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992707" y="201337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6" name="Text 13"/>
          <p:cNvSpPr/>
          <p:nvPr/>
        </p:nvSpPr>
        <p:spPr>
          <a:xfrm>
            <a:off x="6475307" y="1962572"/>
            <a:ext cx="181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Trends</a:t>
            </a:r>
            <a:endParaRPr lang="en-US" sz="1600" dirty="0"/>
          </a:p>
        </p:txBody>
      </p:sp>
      <p:pic>
        <p:nvPicPr>
          <p:cNvPr id="17" name="Image 1" descr="https://kimi-img.moonshot.cn/pub/slides/26-03-13-17:19:42-d6ptdbhnu950hlcqe6e0">    </p:cNvPr>
          <p:cNvPicPr>
            <a:picLocks noChangeAspect="1"/>
          </p:cNvPicPr>
          <p:nvPr/>
        </p:nvPicPr>
        <p:blipFill>
          <a:blip r:embed="rId2"/>
          <a:srcRect l="0" r="0" t="14" b="14"/>
          <a:stretch/>
        </p:blipFill>
        <p:spPr>
          <a:xfrm>
            <a:off x="5865707" y="2546772"/>
            <a:ext cx="4521200" cy="3632200"/>
          </a:xfrm>
          <a:prstGeom prst="roundRect">
            <a:avLst>
              <a:gd name="adj" fmla="val 0"/>
            </a:avLst>
          </a:prstGeom>
        </p:spPr>
      </p:pic>
      <p:sp>
        <p:nvSpPr>
          <p:cNvPr id="18" name="Shape 14"/>
          <p:cNvSpPr/>
          <p:nvPr/>
        </p:nvSpPr>
        <p:spPr>
          <a:xfrm>
            <a:off x="5869094" y="6338566"/>
            <a:ext cx="4515273" cy="806873"/>
          </a:xfrm>
          <a:custGeom>
            <a:avLst/>
            <a:gdLst/>
            <a:ahLst/>
            <a:cxnLst/>
            <a:rect l="l" t="t" r="r" b="b"/>
            <a:pathLst>
              <a:path w="4515273" h="806873">
                <a:moveTo>
                  <a:pt x="101601" y="0"/>
                </a:moveTo>
                <a:lnTo>
                  <a:pt x="4413672" y="0"/>
                </a:lnTo>
                <a:cubicBezTo>
                  <a:pt x="4469785" y="0"/>
                  <a:pt x="4515273" y="45489"/>
                  <a:pt x="4515273" y="101601"/>
                </a:cubicBezTo>
                <a:lnTo>
                  <a:pt x="4515273" y="705272"/>
                </a:lnTo>
                <a:cubicBezTo>
                  <a:pt x="4515273" y="761385"/>
                  <a:pt x="4469785" y="806873"/>
                  <a:pt x="4413672" y="806873"/>
                </a:cubicBezTo>
                <a:lnTo>
                  <a:pt x="101601" y="806873"/>
                </a:lnTo>
                <a:cubicBezTo>
                  <a:pt x="45526" y="806873"/>
                  <a:pt x="0" y="761347"/>
                  <a:pt x="0" y="705272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6773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72505" y="652145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74523" y="6042"/>
                </a:moveTo>
                <a:cubicBezTo>
                  <a:pt x="70182" y="1702"/>
                  <a:pt x="63133" y="1702"/>
                  <a:pt x="58792" y="6042"/>
                </a:cubicBezTo>
                <a:lnTo>
                  <a:pt x="3230" y="61605"/>
                </a:lnTo>
                <a:cubicBezTo>
                  <a:pt x="-1111" y="65946"/>
                  <a:pt x="-1111" y="72995"/>
                  <a:pt x="3230" y="77336"/>
                </a:cubicBezTo>
                <a:cubicBezTo>
                  <a:pt x="7570" y="81677"/>
                  <a:pt x="14620" y="81677"/>
                  <a:pt x="18961" y="77336"/>
                </a:cubicBezTo>
                <a:lnTo>
                  <a:pt x="55563" y="40734"/>
                </a:lnTo>
                <a:lnTo>
                  <a:pt x="55563" y="169466"/>
                </a:lnTo>
                <a:cubicBezTo>
                  <a:pt x="55563" y="175612"/>
                  <a:pt x="60528" y="180578"/>
                  <a:pt x="66675" y="180578"/>
                </a:cubicBezTo>
                <a:cubicBezTo>
                  <a:pt x="72822" y="180578"/>
                  <a:pt x="77788" y="175612"/>
                  <a:pt x="77788" y="169466"/>
                </a:cubicBezTo>
                <a:lnTo>
                  <a:pt x="77788" y="40734"/>
                </a:lnTo>
                <a:lnTo>
                  <a:pt x="114389" y="77336"/>
                </a:lnTo>
                <a:cubicBezTo>
                  <a:pt x="118730" y="81677"/>
                  <a:pt x="125780" y="81677"/>
                  <a:pt x="130120" y="77336"/>
                </a:cubicBezTo>
                <a:cubicBezTo>
                  <a:pt x="134461" y="72995"/>
                  <a:pt x="134461" y="65946"/>
                  <a:pt x="130120" y="61605"/>
                </a:cubicBezTo>
                <a:lnTo>
                  <a:pt x="74558" y="6042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0" name="Text 16"/>
          <p:cNvSpPr/>
          <p:nvPr/>
        </p:nvSpPr>
        <p:spPr>
          <a:xfrm>
            <a:off x="6304280" y="6494357"/>
            <a:ext cx="4013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1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PostgreSQL is the only top-4 database showing consistent growth (</a:t>
            </a:r>
            <a:pPr>
              <a:lnSpc>
                <a:spcPct val="110000"/>
              </a:lnSpc>
            </a:pPr>
            <a:r>
              <a:rPr lang="en-US" sz="14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+16.66%</a:t>
            </a:r>
            <a:pPr>
              <a:lnSpc>
                <a:spcPct val="11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YoY).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10806854" y="1679787"/>
            <a:ext cx="4934373" cy="5670973"/>
          </a:xfrm>
          <a:custGeom>
            <a:avLst/>
            <a:gdLst/>
            <a:ahLst/>
            <a:cxnLst/>
            <a:rect l="l" t="t" r="r" b="b"/>
            <a:pathLst>
              <a:path w="4934373" h="5670973">
                <a:moveTo>
                  <a:pt x="152423" y="0"/>
                </a:moveTo>
                <a:lnTo>
                  <a:pt x="4781951" y="0"/>
                </a:lnTo>
                <a:cubicBezTo>
                  <a:pt x="4866131" y="0"/>
                  <a:pt x="4934373" y="68242"/>
                  <a:pt x="4934373" y="152423"/>
                </a:cubicBezTo>
                <a:lnTo>
                  <a:pt x="4934373" y="5518551"/>
                </a:lnTo>
                <a:cubicBezTo>
                  <a:pt x="4934373" y="5602731"/>
                  <a:pt x="4866131" y="5670973"/>
                  <a:pt x="4781951" y="5670973"/>
                </a:cubicBezTo>
                <a:lnTo>
                  <a:pt x="152423" y="5670973"/>
                </a:lnTo>
                <a:cubicBezTo>
                  <a:pt x="68242" y="5670973"/>
                  <a:pt x="0" y="5602731"/>
                  <a:pt x="0" y="5518551"/>
                </a:cubicBezTo>
                <a:lnTo>
                  <a:pt x="0" y="152423"/>
                </a:lnTo>
                <a:cubicBezTo>
                  <a:pt x="0" y="68298"/>
                  <a:pt x="68298" y="0"/>
                  <a:pt x="15242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1013441" y="188637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11188066" y="2013372"/>
            <a:ext cx="158750" cy="254000"/>
          </a:xfrm>
          <a:custGeom>
            <a:avLst/>
            <a:gdLst/>
            <a:ahLst/>
            <a:cxnLst/>
            <a:rect l="l" t="t" r="r" b="b"/>
            <a:pathLst>
              <a:path w="158750" h="254000">
                <a:moveTo>
                  <a:pt x="67469" y="11906"/>
                </a:moveTo>
                <a:cubicBezTo>
                  <a:pt x="67469" y="5308"/>
                  <a:pt x="72777" y="0"/>
                  <a:pt x="79375" y="0"/>
                </a:cubicBezTo>
                <a:cubicBezTo>
                  <a:pt x="85973" y="0"/>
                  <a:pt x="91281" y="5308"/>
                  <a:pt x="91281" y="11906"/>
                </a:cubicBezTo>
                <a:lnTo>
                  <a:pt x="91281" y="31750"/>
                </a:lnTo>
                <a:lnTo>
                  <a:pt x="119063" y="31750"/>
                </a:lnTo>
                <a:cubicBezTo>
                  <a:pt x="127843" y="31750"/>
                  <a:pt x="134938" y="38844"/>
                  <a:pt x="134938" y="47625"/>
                </a:cubicBezTo>
                <a:cubicBezTo>
                  <a:pt x="134938" y="56406"/>
                  <a:pt x="127843" y="63500"/>
                  <a:pt x="119063" y="63500"/>
                </a:cubicBezTo>
                <a:lnTo>
                  <a:pt x="62061" y="63500"/>
                </a:lnTo>
                <a:cubicBezTo>
                  <a:pt x="49709" y="63500"/>
                  <a:pt x="39688" y="73521"/>
                  <a:pt x="39688" y="85874"/>
                </a:cubicBezTo>
                <a:cubicBezTo>
                  <a:pt x="39688" y="97036"/>
                  <a:pt x="47873" y="106462"/>
                  <a:pt x="58886" y="108049"/>
                </a:cubicBezTo>
                <a:lnTo>
                  <a:pt x="104329" y="114548"/>
                </a:lnTo>
                <a:cubicBezTo>
                  <a:pt x="131018" y="118368"/>
                  <a:pt x="150813" y="141188"/>
                  <a:pt x="150813" y="168126"/>
                </a:cubicBezTo>
                <a:cubicBezTo>
                  <a:pt x="150813" y="198041"/>
                  <a:pt x="126554" y="222250"/>
                  <a:pt x="96689" y="222250"/>
                </a:cubicBezTo>
                <a:lnTo>
                  <a:pt x="91281" y="222250"/>
                </a:lnTo>
                <a:lnTo>
                  <a:pt x="91281" y="242094"/>
                </a:lnTo>
                <a:cubicBezTo>
                  <a:pt x="91281" y="248692"/>
                  <a:pt x="85973" y="254000"/>
                  <a:pt x="79375" y="254000"/>
                </a:cubicBezTo>
                <a:cubicBezTo>
                  <a:pt x="72777" y="254000"/>
                  <a:pt x="67469" y="248692"/>
                  <a:pt x="67469" y="242094"/>
                </a:cubicBezTo>
                <a:lnTo>
                  <a:pt x="67469" y="222250"/>
                </a:lnTo>
                <a:lnTo>
                  <a:pt x="31750" y="222250"/>
                </a:lnTo>
                <a:cubicBezTo>
                  <a:pt x="22969" y="222250"/>
                  <a:pt x="15875" y="215156"/>
                  <a:pt x="15875" y="206375"/>
                </a:cubicBezTo>
                <a:cubicBezTo>
                  <a:pt x="15875" y="197594"/>
                  <a:pt x="22969" y="190500"/>
                  <a:pt x="31750" y="190500"/>
                </a:cubicBezTo>
                <a:lnTo>
                  <a:pt x="96689" y="190500"/>
                </a:lnTo>
                <a:cubicBezTo>
                  <a:pt x="109041" y="190500"/>
                  <a:pt x="119063" y="180479"/>
                  <a:pt x="119063" y="168126"/>
                </a:cubicBezTo>
                <a:cubicBezTo>
                  <a:pt x="119063" y="156964"/>
                  <a:pt x="110877" y="147538"/>
                  <a:pt x="99864" y="145951"/>
                </a:cubicBezTo>
                <a:lnTo>
                  <a:pt x="54421" y="139452"/>
                </a:lnTo>
                <a:cubicBezTo>
                  <a:pt x="27732" y="135682"/>
                  <a:pt x="7938" y="112812"/>
                  <a:pt x="7938" y="85874"/>
                </a:cubicBezTo>
                <a:cubicBezTo>
                  <a:pt x="7938" y="56009"/>
                  <a:pt x="32196" y="31750"/>
                  <a:pt x="62061" y="31750"/>
                </a:cubicBezTo>
                <a:lnTo>
                  <a:pt x="67469" y="31750"/>
                </a:lnTo>
                <a:lnTo>
                  <a:pt x="67469" y="11906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4" name="Text 20"/>
          <p:cNvSpPr/>
          <p:nvPr/>
        </p:nvSpPr>
        <p:spPr>
          <a:xfrm>
            <a:off x="11623041" y="1962572"/>
            <a:ext cx="200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Salary Comparison</a:t>
            </a:r>
            <a:endParaRPr lang="en-US" sz="1600" dirty="0"/>
          </a:p>
        </p:txBody>
      </p:sp>
      <p:pic>
        <p:nvPicPr>
          <p:cNvPr id="25" name="Image 2" descr="https://kimi-img.moonshot.cn/pub/slides/26-03-13-17:19:45-d6ptdccn90728egviepg">    </p:cNvPr>
          <p:cNvPicPr>
            <a:picLocks noChangeAspect="1"/>
          </p:cNvPicPr>
          <p:nvPr/>
        </p:nvPicPr>
        <p:blipFill>
          <a:blip r:embed="rId3"/>
          <a:srcRect l="0" r="0" t="14" b="14"/>
          <a:stretch/>
        </p:blipFill>
        <p:spPr>
          <a:xfrm>
            <a:off x="11013441" y="2546772"/>
            <a:ext cx="4521200" cy="3632200"/>
          </a:xfrm>
          <a:prstGeom prst="roundRect">
            <a:avLst>
              <a:gd name="adj" fmla="val 0"/>
            </a:avLst>
          </a:prstGeom>
        </p:spPr>
      </p:pic>
      <p:sp>
        <p:nvSpPr>
          <p:cNvPr id="26" name="Shape 21"/>
          <p:cNvSpPr/>
          <p:nvPr/>
        </p:nvSpPr>
        <p:spPr>
          <a:xfrm>
            <a:off x="11016828" y="6338566"/>
            <a:ext cx="4515273" cy="806873"/>
          </a:xfrm>
          <a:custGeom>
            <a:avLst/>
            <a:gdLst/>
            <a:ahLst/>
            <a:cxnLst/>
            <a:rect l="l" t="t" r="r" b="b"/>
            <a:pathLst>
              <a:path w="4515273" h="806873">
                <a:moveTo>
                  <a:pt x="101601" y="0"/>
                </a:moveTo>
                <a:lnTo>
                  <a:pt x="4413672" y="0"/>
                </a:lnTo>
                <a:cubicBezTo>
                  <a:pt x="4469785" y="0"/>
                  <a:pt x="4515273" y="45489"/>
                  <a:pt x="4515273" y="101601"/>
                </a:cubicBezTo>
                <a:lnTo>
                  <a:pt x="4515273" y="705272"/>
                </a:lnTo>
                <a:cubicBezTo>
                  <a:pt x="4515273" y="761385"/>
                  <a:pt x="4469785" y="806873"/>
                  <a:pt x="4413672" y="806873"/>
                </a:cubicBezTo>
                <a:lnTo>
                  <a:pt x="101601" y="806873"/>
                </a:lnTo>
                <a:cubicBezTo>
                  <a:pt x="45526" y="806873"/>
                  <a:pt x="0" y="761347"/>
                  <a:pt x="0" y="705272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6773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1186902" y="652145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07479" y="-6563"/>
                </a:moveTo>
                <a:cubicBezTo>
                  <a:pt x="106055" y="-9341"/>
                  <a:pt x="103173" y="-11112"/>
                  <a:pt x="100047" y="-11112"/>
                </a:cubicBezTo>
                <a:cubicBezTo>
                  <a:pt x="96922" y="-11112"/>
                  <a:pt x="94040" y="-9341"/>
                  <a:pt x="92616" y="-6563"/>
                </a:cubicBezTo>
                <a:lnTo>
                  <a:pt x="67057" y="43512"/>
                </a:lnTo>
                <a:lnTo>
                  <a:pt x="11529" y="52333"/>
                </a:lnTo>
                <a:cubicBezTo>
                  <a:pt x="8439" y="52819"/>
                  <a:pt x="5869" y="55007"/>
                  <a:pt x="4896" y="57993"/>
                </a:cubicBezTo>
                <a:cubicBezTo>
                  <a:pt x="3924" y="60980"/>
                  <a:pt x="4723" y="64244"/>
                  <a:pt x="6911" y="66467"/>
                </a:cubicBezTo>
                <a:lnTo>
                  <a:pt x="46638" y="106229"/>
                </a:lnTo>
                <a:lnTo>
                  <a:pt x="37887" y="161756"/>
                </a:lnTo>
                <a:cubicBezTo>
                  <a:pt x="37401" y="164847"/>
                  <a:pt x="38685" y="167972"/>
                  <a:pt x="41220" y="169813"/>
                </a:cubicBezTo>
                <a:cubicBezTo>
                  <a:pt x="43755" y="171653"/>
                  <a:pt x="47089" y="171931"/>
                  <a:pt x="49902" y="170507"/>
                </a:cubicBezTo>
                <a:lnTo>
                  <a:pt x="100047" y="145018"/>
                </a:lnTo>
                <a:lnTo>
                  <a:pt x="150158" y="170507"/>
                </a:lnTo>
                <a:cubicBezTo>
                  <a:pt x="152936" y="171931"/>
                  <a:pt x="156304" y="171653"/>
                  <a:pt x="158839" y="169813"/>
                </a:cubicBezTo>
                <a:cubicBezTo>
                  <a:pt x="161374" y="167972"/>
                  <a:pt x="162659" y="164882"/>
                  <a:pt x="162173" y="161756"/>
                </a:cubicBezTo>
                <a:lnTo>
                  <a:pt x="153387" y="106229"/>
                </a:lnTo>
                <a:lnTo>
                  <a:pt x="193114" y="66467"/>
                </a:lnTo>
                <a:cubicBezTo>
                  <a:pt x="195337" y="64244"/>
                  <a:pt x="196101" y="60980"/>
                  <a:pt x="195129" y="57993"/>
                </a:cubicBezTo>
                <a:cubicBezTo>
                  <a:pt x="194156" y="55007"/>
                  <a:pt x="191621" y="52819"/>
                  <a:pt x="188496" y="52333"/>
                </a:cubicBezTo>
                <a:lnTo>
                  <a:pt x="133003" y="43512"/>
                </a:lnTo>
                <a:lnTo>
                  <a:pt x="107479" y="-656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8" name="Text 23"/>
          <p:cNvSpPr/>
          <p:nvPr/>
        </p:nvSpPr>
        <p:spPr>
          <a:xfrm>
            <a:off x="11452014" y="6494357"/>
            <a:ext cx="4013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1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Rust and Go command premium salaries reflecting scarcity of specialized talent.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511387" y="7559037"/>
            <a:ext cx="3689773" cy="1073573"/>
          </a:xfrm>
          <a:custGeom>
            <a:avLst/>
            <a:gdLst/>
            <a:ahLst/>
            <a:cxnLst/>
            <a:rect l="l" t="t" r="r" b="b"/>
            <a:pathLst>
              <a:path w="3689773" h="1073573">
                <a:moveTo>
                  <a:pt x="101603" y="0"/>
                </a:moveTo>
                <a:lnTo>
                  <a:pt x="3588170" y="0"/>
                </a:lnTo>
                <a:cubicBezTo>
                  <a:pt x="3644284" y="0"/>
                  <a:pt x="3689773" y="45489"/>
                  <a:pt x="3689773" y="101603"/>
                </a:cubicBezTo>
                <a:lnTo>
                  <a:pt x="3689773" y="971970"/>
                </a:lnTo>
                <a:cubicBezTo>
                  <a:pt x="3689773" y="1028084"/>
                  <a:pt x="3644284" y="1073573"/>
                  <a:pt x="3588170" y="1073573"/>
                </a:cubicBezTo>
                <a:lnTo>
                  <a:pt x="101603" y="1073573"/>
                </a:lnTo>
                <a:cubicBezTo>
                  <a:pt x="45489" y="1073573"/>
                  <a:pt x="0" y="1028084"/>
                  <a:pt x="0" y="971970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71923" y="7714822"/>
            <a:ext cx="356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45.7%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22723" y="8222822"/>
            <a:ext cx="346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Recruiter Demand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4359487" y="7559037"/>
            <a:ext cx="3689773" cy="1073573"/>
          </a:xfrm>
          <a:custGeom>
            <a:avLst/>
            <a:gdLst/>
            <a:ahLst/>
            <a:cxnLst/>
            <a:rect l="l" t="t" r="r" b="b"/>
            <a:pathLst>
              <a:path w="3689773" h="1073573">
                <a:moveTo>
                  <a:pt x="101603" y="0"/>
                </a:moveTo>
                <a:lnTo>
                  <a:pt x="3588170" y="0"/>
                </a:lnTo>
                <a:cubicBezTo>
                  <a:pt x="3644284" y="0"/>
                  <a:pt x="3689773" y="45489"/>
                  <a:pt x="3689773" y="101603"/>
                </a:cubicBezTo>
                <a:lnTo>
                  <a:pt x="3689773" y="971970"/>
                </a:lnTo>
                <a:cubicBezTo>
                  <a:pt x="3689773" y="1028084"/>
                  <a:pt x="3644284" y="1073573"/>
                  <a:pt x="3588170" y="1073573"/>
                </a:cubicBezTo>
                <a:lnTo>
                  <a:pt x="101603" y="1073573"/>
                </a:lnTo>
                <a:cubicBezTo>
                  <a:pt x="45489" y="1073573"/>
                  <a:pt x="0" y="1028084"/>
                  <a:pt x="0" y="971970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420024" y="7714822"/>
            <a:ext cx="356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55.6%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4470824" y="8222822"/>
            <a:ext cx="346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Adoption</a:t>
            </a:r>
            <a:endParaRPr lang="en-US" sz="1600" dirty="0"/>
          </a:p>
        </p:txBody>
      </p:sp>
      <p:sp>
        <p:nvSpPr>
          <p:cNvPr id="35" name="Shape 30"/>
          <p:cNvSpPr/>
          <p:nvPr/>
        </p:nvSpPr>
        <p:spPr>
          <a:xfrm>
            <a:off x="8207587" y="7559037"/>
            <a:ext cx="3689773" cy="1073573"/>
          </a:xfrm>
          <a:custGeom>
            <a:avLst/>
            <a:gdLst/>
            <a:ahLst/>
            <a:cxnLst/>
            <a:rect l="l" t="t" r="r" b="b"/>
            <a:pathLst>
              <a:path w="3689773" h="1073573">
                <a:moveTo>
                  <a:pt x="101603" y="0"/>
                </a:moveTo>
                <a:lnTo>
                  <a:pt x="3588170" y="0"/>
                </a:lnTo>
                <a:cubicBezTo>
                  <a:pt x="3644284" y="0"/>
                  <a:pt x="3689773" y="45489"/>
                  <a:pt x="3689773" y="101603"/>
                </a:cubicBezTo>
                <a:lnTo>
                  <a:pt x="3689773" y="971970"/>
                </a:lnTo>
                <a:cubicBezTo>
                  <a:pt x="3689773" y="1028084"/>
                  <a:pt x="3644284" y="1073573"/>
                  <a:pt x="3588170" y="1073573"/>
                </a:cubicBezTo>
                <a:lnTo>
                  <a:pt x="101603" y="1073573"/>
                </a:lnTo>
                <a:cubicBezTo>
                  <a:pt x="45489" y="1073573"/>
                  <a:pt x="0" y="1028084"/>
                  <a:pt x="0" y="971970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268124" y="7714822"/>
            <a:ext cx="356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49%+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8318924" y="8222822"/>
            <a:ext cx="346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DB Growth</a:t>
            </a:r>
            <a:endParaRPr lang="en-US" sz="1600" dirty="0"/>
          </a:p>
        </p:txBody>
      </p:sp>
      <p:sp>
        <p:nvSpPr>
          <p:cNvPr id="38" name="Shape 33"/>
          <p:cNvSpPr/>
          <p:nvPr/>
        </p:nvSpPr>
        <p:spPr>
          <a:xfrm>
            <a:off x="12055687" y="7559037"/>
            <a:ext cx="3689773" cy="1073573"/>
          </a:xfrm>
          <a:custGeom>
            <a:avLst/>
            <a:gdLst/>
            <a:ahLst/>
            <a:cxnLst/>
            <a:rect l="l" t="t" r="r" b="b"/>
            <a:pathLst>
              <a:path w="3689773" h="1073573">
                <a:moveTo>
                  <a:pt x="101603" y="0"/>
                </a:moveTo>
                <a:lnTo>
                  <a:pt x="3588170" y="0"/>
                </a:lnTo>
                <a:cubicBezTo>
                  <a:pt x="3644284" y="0"/>
                  <a:pt x="3689773" y="45489"/>
                  <a:pt x="3689773" y="101603"/>
                </a:cubicBezTo>
                <a:lnTo>
                  <a:pt x="3689773" y="971970"/>
                </a:lnTo>
                <a:cubicBezTo>
                  <a:pt x="3689773" y="1028084"/>
                  <a:pt x="3644284" y="1073573"/>
                  <a:pt x="3588170" y="1073573"/>
                </a:cubicBezTo>
                <a:lnTo>
                  <a:pt x="101603" y="1073573"/>
                </a:lnTo>
                <a:cubicBezTo>
                  <a:pt x="45489" y="1073573"/>
                  <a:pt x="0" y="1028084"/>
                  <a:pt x="0" y="971970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12116224" y="7714822"/>
            <a:ext cx="356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33%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12167024" y="8222822"/>
            <a:ext cx="346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TypeScript Usage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08000"/>
            <a:ext cx="6515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Discussion: Actionable Themes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1200" y="1117600"/>
            <a:ext cx="151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Synthesizing insights into strategic imperatives for technology leaders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1387" y="1679787"/>
            <a:ext cx="15234073" cy="2559473"/>
          </a:xfrm>
          <a:custGeom>
            <a:avLst/>
            <a:gdLst/>
            <a:ahLst/>
            <a:cxnLst/>
            <a:rect l="l" t="t" r="r" b="b"/>
            <a:pathLst>
              <a:path w="15234073" h="2559473">
                <a:moveTo>
                  <a:pt x="152391" y="0"/>
                </a:moveTo>
                <a:lnTo>
                  <a:pt x="15081682" y="0"/>
                </a:lnTo>
                <a:cubicBezTo>
                  <a:pt x="15165846" y="0"/>
                  <a:pt x="15234073" y="68228"/>
                  <a:pt x="15234073" y="152391"/>
                </a:cubicBezTo>
                <a:lnTo>
                  <a:pt x="15234073" y="2407082"/>
                </a:lnTo>
                <a:cubicBezTo>
                  <a:pt x="15234073" y="2491246"/>
                  <a:pt x="15165846" y="2559473"/>
                  <a:pt x="15081682" y="2559473"/>
                </a:cubicBezTo>
                <a:lnTo>
                  <a:pt x="152391" y="2559473"/>
                </a:lnTo>
                <a:cubicBezTo>
                  <a:pt x="68228" y="2559473"/>
                  <a:pt x="0" y="2491246"/>
                  <a:pt x="0" y="2407082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0" scaled="1"/>
          </a:gradFill>
          <a:ln w="6773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973" y="1886372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Shape 5"/>
          <p:cNvSpPr/>
          <p:nvPr/>
        </p:nvSpPr>
        <p:spPr>
          <a:xfrm>
            <a:off x="921173" y="208957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8" name="Shape 6"/>
          <p:cNvSpPr/>
          <p:nvPr/>
        </p:nvSpPr>
        <p:spPr>
          <a:xfrm>
            <a:off x="1632373" y="1911772"/>
            <a:ext cx="1079500" cy="355600"/>
          </a:xfrm>
          <a:custGeom>
            <a:avLst/>
            <a:gdLst/>
            <a:ahLst/>
            <a:cxnLst/>
            <a:rect l="l" t="t" r="r" b="b"/>
            <a:pathLst>
              <a:path w="1079500" h="355600">
                <a:moveTo>
                  <a:pt x="177800" y="0"/>
                </a:moveTo>
                <a:lnTo>
                  <a:pt x="901700" y="0"/>
                </a:lnTo>
                <a:cubicBezTo>
                  <a:pt x="999830" y="0"/>
                  <a:pt x="1079500" y="79670"/>
                  <a:pt x="1079500" y="177800"/>
                </a:cubicBezTo>
                <a:lnTo>
                  <a:pt x="1079500" y="177800"/>
                </a:lnTo>
                <a:cubicBezTo>
                  <a:pt x="1079500" y="275930"/>
                  <a:pt x="999830" y="355600"/>
                  <a:pt x="9017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9" name="Text 7"/>
          <p:cNvSpPr/>
          <p:nvPr/>
        </p:nvSpPr>
        <p:spPr>
          <a:xfrm>
            <a:off x="1632373" y="1911772"/>
            <a:ext cx="11684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THEME 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60358" y="1886372"/>
            <a:ext cx="3276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AI-First Talent Strategy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32373" y="2394372"/>
            <a:ext cx="14008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convergence of AI/ML demand and Python dominance creates an urgent imperative. Organizations without robust Python capabilities risk falling irreversibly behind in AI adoption.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35760" y="3210558"/>
            <a:ext cx="4527973" cy="819573"/>
          </a:xfrm>
          <a:custGeom>
            <a:avLst/>
            <a:gdLst/>
            <a:ahLst/>
            <a:cxnLst/>
            <a:rect l="l" t="t" r="r" b="b"/>
            <a:pathLst>
              <a:path w="4527973" h="819573">
                <a:moveTo>
                  <a:pt x="101603" y="0"/>
                </a:moveTo>
                <a:lnTo>
                  <a:pt x="4426371" y="0"/>
                </a:lnTo>
                <a:cubicBezTo>
                  <a:pt x="4482484" y="0"/>
                  <a:pt x="4527973" y="45489"/>
                  <a:pt x="4527973" y="101603"/>
                </a:cubicBezTo>
                <a:lnTo>
                  <a:pt x="4527973" y="717971"/>
                </a:lnTo>
                <a:cubicBezTo>
                  <a:pt x="4527973" y="774084"/>
                  <a:pt x="4482484" y="819573"/>
                  <a:pt x="4426371" y="819573"/>
                </a:cubicBezTo>
                <a:lnTo>
                  <a:pt x="101603" y="819573"/>
                </a:lnTo>
                <a:cubicBezTo>
                  <a:pt x="45489" y="819573"/>
                  <a:pt x="0" y="774084"/>
                  <a:pt x="0" y="717971"/>
                </a:cubicBezTo>
                <a:lnTo>
                  <a:pt x="0" y="101603"/>
                </a:lnTo>
                <a:cubicBezTo>
                  <a:pt x="0" y="45489"/>
                  <a:pt x="45489" y="0"/>
                  <a:pt x="1016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04247" y="3391743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9050" y="77708"/>
                </a:moveTo>
                <a:lnTo>
                  <a:pt x="102076" y="111879"/>
                </a:lnTo>
                <a:cubicBezTo>
                  <a:pt x="105966" y="113467"/>
                  <a:pt x="110093" y="114300"/>
                  <a:pt x="114300" y="114300"/>
                </a:cubicBezTo>
                <a:cubicBezTo>
                  <a:pt x="118507" y="114300"/>
                  <a:pt x="122634" y="113467"/>
                  <a:pt x="126524" y="111879"/>
                </a:cubicBezTo>
                <a:lnTo>
                  <a:pt x="222726" y="72271"/>
                </a:lnTo>
                <a:cubicBezTo>
                  <a:pt x="226298" y="70802"/>
                  <a:pt x="228600" y="67350"/>
                  <a:pt x="228600" y="63500"/>
                </a:cubicBezTo>
                <a:cubicBezTo>
                  <a:pt x="228600" y="59650"/>
                  <a:pt x="226298" y="56197"/>
                  <a:pt x="222726" y="54729"/>
                </a:cubicBezTo>
                <a:lnTo>
                  <a:pt x="126524" y="15121"/>
                </a:lnTo>
                <a:cubicBezTo>
                  <a:pt x="122634" y="13533"/>
                  <a:pt x="118507" y="12700"/>
                  <a:pt x="114300" y="12700"/>
                </a:cubicBezTo>
                <a:cubicBezTo>
                  <a:pt x="110093" y="12700"/>
                  <a:pt x="105966" y="13533"/>
                  <a:pt x="102076" y="15121"/>
                </a:cubicBezTo>
                <a:lnTo>
                  <a:pt x="5874" y="54729"/>
                </a:lnTo>
                <a:cubicBezTo>
                  <a:pt x="2302" y="56198"/>
                  <a:pt x="0" y="59650"/>
                  <a:pt x="0" y="63500"/>
                </a:cubicBezTo>
                <a:lnTo>
                  <a:pt x="0" y="180975"/>
                </a:lnTo>
                <a:cubicBezTo>
                  <a:pt x="0" y="186253"/>
                  <a:pt x="4247" y="190500"/>
                  <a:pt x="9525" y="190500"/>
                </a:cubicBezTo>
                <a:cubicBezTo>
                  <a:pt x="14803" y="190500"/>
                  <a:pt x="19050" y="186253"/>
                  <a:pt x="19050" y="180975"/>
                </a:cubicBezTo>
                <a:lnTo>
                  <a:pt x="19050" y="77708"/>
                </a:lnTo>
                <a:close/>
                <a:moveTo>
                  <a:pt x="38100" y="106164"/>
                </a:moveTo>
                <a:lnTo>
                  <a:pt x="38100" y="152400"/>
                </a:lnTo>
                <a:cubicBezTo>
                  <a:pt x="38100" y="173434"/>
                  <a:pt x="72231" y="190500"/>
                  <a:pt x="114300" y="190500"/>
                </a:cubicBezTo>
                <a:cubicBezTo>
                  <a:pt x="156369" y="190500"/>
                  <a:pt x="190500" y="173434"/>
                  <a:pt x="190500" y="152400"/>
                </a:cubicBezTo>
                <a:lnTo>
                  <a:pt x="190500" y="106124"/>
                </a:lnTo>
                <a:lnTo>
                  <a:pt x="133787" y="129500"/>
                </a:lnTo>
                <a:cubicBezTo>
                  <a:pt x="127595" y="132040"/>
                  <a:pt x="121007" y="133350"/>
                  <a:pt x="114300" y="133350"/>
                </a:cubicBezTo>
                <a:cubicBezTo>
                  <a:pt x="107593" y="133350"/>
                  <a:pt x="101005" y="132040"/>
                  <a:pt x="94813" y="129500"/>
                </a:cubicBezTo>
                <a:lnTo>
                  <a:pt x="38100" y="10612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2147147" y="3366343"/>
            <a:ext cx="59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Upskill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91547" y="3671143"/>
            <a:ext cx="429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 in Python training for existing teams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21743" y="3210558"/>
            <a:ext cx="4527973" cy="819573"/>
          </a:xfrm>
          <a:custGeom>
            <a:avLst/>
            <a:gdLst/>
            <a:ahLst/>
            <a:cxnLst/>
            <a:rect l="l" t="t" r="r" b="b"/>
            <a:pathLst>
              <a:path w="4527973" h="819573">
                <a:moveTo>
                  <a:pt x="101603" y="0"/>
                </a:moveTo>
                <a:lnTo>
                  <a:pt x="4426371" y="0"/>
                </a:lnTo>
                <a:cubicBezTo>
                  <a:pt x="4482484" y="0"/>
                  <a:pt x="4527973" y="45489"/>
                  <a:pt x="4527973" y="101603"/>
                </a:cubicBezTo>
                <a:lnTo>
                  <a:pt x="4527973" y="717971"/>
                </a:lnTo>
                <a:cubicBezTo>
                  <a:pt x="4527973" y="774084"/>
                  <a:pt x="4482484" y="819573"/>
                  <a:pt x="4426371" y="819573"/>
                </a:cubicBezTo>
                <a:lnTo>
                  <a:pt x="101603" y="819573"/>
                </a:lnTo>
                <a:cubicBezTo>
                  <a:pt x="45489" y="819573"/>
                  <a:pt x="0" y="774084"/>
                  <a:pt x="0" y="717971"/>
                </a:cubicBezTo>
                <a:lnTo>
                  <a:pt x="0" y="101603"/>
                </a:lnTo>
                <a:cubicBezTo>
                  <a:pt x="0" y="45489"/>
                  <a:pt x="45489" y="0"/>
                  <a:pt x="1016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7529" y="3391743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53975" y="50800"/>
                </a:moveTo>
                <a:cubicBezTo>
                  <a:pt x="53975" y="24515"/>
                  <a:pt x="75315" y="3175"/>
                  <a:pt x="101600" y="3175"/>
                </a:cubicBezTo>
                <a:cubicBezTo>
                  <a:pt x="127885" y="3175"/>
                  <a:pt x="149225" y="24515"/>
                  <a:pt x="149225" y="50800"/>
                </a:cubicBezTo>
                <a:cubicBezTo>
                  <a:pt x="149225" y="77085"/>
                  <a:pt x="127885" y="98425"/>
                  <a:pt x="101600" y="98425"/>
                </a:cubicBezTo>
                <a:cubicBezTo>
                  <a:pt x="75315" y="98425"/>
                  <a:pt x="53975" y="77085"/>
                  <a:pt x="53975" y="50800"/>
                </a:cubicBezTo>
                <a:close/>
                <a:moveTo>
                  <a:pt x="19050" y="191413"/>
                </a:moveTo>
                <a:cubicBezTo>
                  <a:pt x="19050" y="152321"/>
                  <a:pt x="50721" y="120650"/>
                  <a:pt x="89813" y="120650"/>
                </a:cubicBezTo>
                <a:lnTo>
                  <a:pt x="113387" y="120650"/>
                </a:lnTo>
                <a:cubicBezTo>
                  <a:pt x="152479" y="120650"/>
                  <a:pt x="184150" y="152321"/>
                  <a:pt x="184150" y="191413"/>
                </a:cubicBezTo>
                <a:cubicBezTo>
                  <a:pt x="184150" y="197922"/>
                  <a:pt x="178872" y="203200"/>
                  <a:pt x="172363" y="203200"/>
                </a:cubicBezTo>
                <a:lnTo>
                  <a:pt x="30837" y="203200"/>
                </a:lnTo>
                <a:cubicBezTo>
                  <a:pt x="24328" y="203200"/>
                  <a:pt x="19050" y="197922"/>
                  <a:pt x="19050" y="191413"/>
                </a:cubicBezTo>
                <a:close/>
                <a:moveTo>
                  <a:pt x="215900" y="38100"/>
                </a:moveTo>
                <a:cubicBezTo>
                  <a:pt x="221178" y="38100"/>
                  <a:pt x="225425" y="42347"/>
                  <a:pt x="225425" y="47625"/>
                </a:cubicBezTo>
                <a:lnTo>
                  <a:pt x="225425" y="66675"/>
                </a:lnTo>
                <a:lnTo>
                  <a:pt x="244475" y="66675"/>
                </a:lnTo>
                <a:cubicBezTo>
                  <a:pt x="249753" y="66675"/>
                  <a:pt x="254000" y="70922"/>
                  <a:pt x="254000" y="76200"/>
                </a:cubicBezTo>
                <a:cubicBezTo>
                  <a:pt x="254000" y="81478"/>
                  <a:pt x="249753" y="85725"/>
                  <a:pt x="244475" y="85725"/>
                </a:cubicBezTo>
                <a:lnTo>
                  <a:pt x="225425" y="85725"/>
                </a:lnTo>
                <a:lnTo>
                  <a:pt x="225425" y="104775"/>
                </a:lnTo>
                <a:cubicBezTo>
                  <a:pt x="225425" y="110053"/>
                  <a:pt x="221178" y="114300"/>
                  <a:pt x="215900" y="114300"/>
                </a:cubicBezTo>
                <a:cubicBezTo>
                  <a:pt x="210622" y="114300"/>
                  <a:pt x="206375" y="110053"/>
                  <a:pt x="206375" y="104775"/>
                </a:cubicBezTo>
                <a:lnTo>
                  <a:pt x="206375" y="85725"/>
                </a:lnTo>
                <a:lnTo>
                  <a:pt x="187325" y="85725"/>
                </a:lnTo>
                <a:cubicBezTo>
                  <a:pt x="182047" y="85725"/>
                  <a:pt x="177800" y="81478"/>
                  <a:pt x="177800" y="76200"/>
                </a:cubicBezTo>
                <a:cubicBezTo>
                  <a:pt x="177800" y="70922"/>
                  <a:pt x="182047" y="66675"/>
                  <a:pt x="187325" y="66675"/>
                </a:cubicBezTo>
                <a:lnTo>
                  <a:pt x="206375" y="66675"/>
                </a:lnTo>
                <a:lnTo>
                  <a:pt x="206375" y="47625"/>
                </a:lnTo>
                <a:cubicBezTo>
                  <a:pt x="206375" y="42347"/>
                  <a:pt x="210622" y="38100"/>
                  <a:pt x="215900" y="381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833129" y="3366343"/>
            <a:ext cx="40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7529" y="3671143"/>
            <a:ext cx="429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Prioritize Python expertise in recruitment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007726" y="3210558"/>
            <a:ext cx="4527973" cy="819573"/>
          </a:xfrm>
          <a:custGeom>
            <a:avLst/>
            <a:gdLst/>
            <a:ahLst/>
            <a:cxnLst/>
            <a:rect l="l" t="t" r="r" b="b"/>
            <a:pathLst>
              <a:path w="4527973" h="819573">
                <a:moveTo>
                  <a:pt x="101603" y="0"/>
                </a:moveTo>
                <a:lnTo>
                  <a:pt x="4426371" y="0"/>
                </a:lnTo>
                <a:cubicBezTo>
                  <a:pt x="4482484" y="0"/>
                  <a:pt x="4527973" y="45489"/>
                  <a:pt x="4527973" y="101603"/>
                </a:cubicBezTo>
                <a:lnTo>
                  <a:pt x="4527973" y="717971"/>
                </a:lnTo>
                <a:cubicBezTo>
                  <a:pt x="4527973" y="774084"/>
                  <a:pt x="4482484" y="819573"/>
                  <a:pt x="4426371" y="819573"/>
                </a:cubicBezTo>
                <a:lnTo>
                  <a:pt x="101603" y="819573"/>
                </a:lnTo>
                <a:cubicBezTo>
                  <a:pt x="45489" y="819573"/>
                  <a:pt x="0" y="774084"/>
                  <a:pt x="0" y="717971"/>
                </a:cubicBezTo>
                <a:lnTo>
                  <a:pt x="0" y="101603"/>
                </a:lnTo>
                <a:cubicBezTo>
                  <a:pt x="0" y="45489"/>
                  <a:pt x="45489" y="0"/>
                  <a:pt x="1016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88912" y="339174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0800" y="127000"/>
                </a:moveTo>
                <a:lnTo>
                  <a:pt x="9723" y="127000"/>
                </a:lnTo>
                <a:cubicBezTo>
                  <a:pt x="-159" y="127000"/>
                  <a:pt x="-6231" y="116245"/>
                  <a:pt x="-1151" y="107752"/>
                </a:cubicBezTo>
                <a:lnTo>
                  <a:pt x="19844" y="72747"/>
                </a:lnTo>
                <a:cubicBezTo>
                  <a:pt x="23297" y="66993"/>
                  <a:pt x="29488" y="63500"/>
                  <a:pt x="36195" y="63500"/>
                </a:cubicBezTo>
                <a:lnTo>
                  <a:pt x="73898" y="63500"/>
                </a:lnTo>
                <a:cubicBezTo>
                  <a:pt x="104100" y="12343"/>
                  <a:pt x="149146" y="9763"/>
                  <a:pt x="179268" y="14168"/>
                </a:cubicBezTo>
                <a:cubicBezTo>
                  <a:pt x="184348" y="14923"/>
                  <a:pt x="188317" y="18891"/>
                  <a:pt x="189032" y="23932"/>
                </a:cubicBezTo>
                <a:cubicBezTo>
                  <a:pt x="193437" y="54054"/>
                  <a:pt x="190857" y="99100"/>
                  <a:pt x="139700" y="129302"/>
                </a:cubicBezTo>
                <a:lnTo>
                  <a:pt x="139700" y="167005"/>
                </a:lnTo>
                <a:cubicBezTo>
                  <a:pt x="139700" y="173712"/>
                  <a:pt x="136208" y="179903"/>
                  <a:pt x="130453" y="183356"/>
                </a:cubicBezTo>
                <a:lnTo>
                  <a:pt x="95448" y="204351"/>
                </a:lnTo>
                <a:cubicBezTo>
                  <a:pt x="86995" y="209431"/>
                  <a:pt x="76200" y="203319"/>
                  <a:pt x="76200" y="193477"/>
                </a:cubicBezTo>
                <a:lnTo>
                  <a:pt x="76200" y="152400"/>
                </a:lnTo>
                <a:cubicBezTo>
                  <a:pt x="76200" y="138390"/>
                  <a:pt x="64810" y="127000"/>
                  <a:pt x="50800" y="127000"/>
                </a:cubicBezTo>
                <a:lnTo>
                  <a:pt x="50760" y="127000"/>
                </a:lnTo>
                <a:close/>
                <a:moveTo>
                  <a:pt x="158750" y="63500"/>
                </a:moveTo>
                <a:cubicBezTo>
                  <a:pt x="158750" y="52986"/>
                  <a:pt x="150214" y="44450"/>
                  <a:pt x="139700" y="44450"/>
                </a:cubicBezTo>
                <a:cubicBezTo>
                  <a:pt x="129186" y="44450"/>
                  <a:pt x="120650" y="52986"/>
                  <a:pt x="120650" y="63500"/>
                </a:cubicBezTo>
                <a:cubicBezTo>
                  <a:pt x="120650" y="74014"/>
                  <a:pt x="129186" y="82550"/>
                  <a:pt x="139700" y="82550"/>
                </a:cubicBezTo>
                <a:cubicBezTo>
                  <a:pt x="150214" y="82550"/>
                  <a:pt x="158750" y="74014"/>
                  <a:pt x="158750" y="635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2" name="Text 20"/>
          <p:cNvSpPr/>
          <p:nvPr/>
        </p:nvSpPr>
        <p:spPr>
          <a:xfrm>
            <a:off x="11519112" y="3366343"/>
            <a:ext cx="41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63512" y="3671143"/>
            <a:ext cx="429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 AI/ML pilot projects immediately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1387" y="4399280"/>
            <a:ext cx="15234073" cy="2559473"/>
          </a:xfrm>
          <a:custGeom>
            <a:avLst/>
            <a:gdLst/>
            <a:ahLst/>
            <a:cxnLst/>
            <a:rect l="l" t="t" r="r" b="b"/>
            <a:pathLst>
              <a:path w="15234073" h="2559473">
                <a:moveTo>
                  <a:pt x="152391" y="0"/>
                </a:moveTo>
                <a:lnTo>
                  <a:pt x="15081682" y="0"/>
                </a:lnTo>
                <a:cubicBezTo>
                  <a:pt x="15165846" y="0"/>
                  <a:pt x="15234073" y="68228"/>
                  <a:pt x="15234073" y="152391"/>
                </a:cubicBezTo>
                <a:lnTo>
                  <a:pt x="15234073" y="2407082"/>
                </a:lnTo>
                <a:cubicBezTo>
                  <a:pt x="15234073" y="2491246"/>
                  <a:pt x="15165846" y="2559473"/>
                  <a:pt x="15081682" y="2559473"/>
                </a:cubicBezTo>
                <a:lnTo>
                  <a:pt x="152391" y="2559473"/>
                </a:lnTo>
                <a:cubicBezTo>
                  <a:pt x="68228" y="2559473"/>
                  <a:pt x="0" y="2491246"/>
                  <a:pt x="0" y="2407082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0" scaled="1"/>
          </a:gradFill>
          <a:ln w="6773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973" y="4605865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6" name="Shape 24"/>
          <p:cNvSpPr/>
          <p:nvPr/>
        </p:nvSpPr>
        <p:spPr>
          <a:xfrm>
            <a:off x="940223" y="4809065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7" name="Shape 25"/>
          <p:cNvSpPr/>
          <p:nvPr/>
        </p:nvSpPr>
        <p:spPr>
          <a:xfrm>
            <a:off x="1632373" y="4631265"/>
            <a:ext cx="1104900" cy="355600"/>
          </a:xfrm>
          <a:custGeom>
            <a:avLst/>
            <a:gdLst/>
            <a:ahLst/>
            <a:cxnLst/>
            <a:rect l="l" t="t" r="r" b="b"/>
            <a:pathLst>
              <a:path w="1104900" h="355600">
                <a:moveTo>
                  <a:pt x="177800" y="0"/>
                </a:moveTo>
                <a:lnTo>
                  <a:pt x="927100" y="0"/>
                </a:lnTo>
                <a:cubicBezTo>
                  <a:pt x="1025230" y="0"/>
                  <a:pt x="1104900" y="79670"/>
                  <a:pt x="1104900" y="177800"/>
                </a:cubicBezTo>
                <a:lnTo>
                  <a:pt x="1104900" y="177800"/>
                </a:lnTo>
                <a:cubicBezTo>
                  <a:pt x="1104900" y="275930"/>
                  <a:pt x="1025230" y="355600"/>
                  <a:pt x="9271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8" name="Text 26"/>
          <p:cNvSpPr/>
          <p:nvPr/>
        </p:nvSpPr>
        <p:spPr>
          <a:xfrm>
            <a:off x="1632373" y="4631265"/>
            <a:ext cx="11938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THEME 02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894542" y="4605865"/>
            <a:ext cx="4914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Modernization Imperative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32373" y="5113865"/>
            <a:ext cx="14008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PostgreSQL's rise and legacy database decline signal a fundamental shift. Enterprises must accelerate migration plans to open-source, cloud-native databases for cost efficiency and innovation.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635760" y="5930051"/>
            <a:ext cx="4527973" cy="819573"/>
          </a:xfrm>
          <a:custGeom>
            <a:avLst/>
            <a:gdLst/>
            <a:ahLst/>
            <a:cxnLst/>
            <a:rect l="l" t="t" r="r" b="b"/>
            <a:pathLst>
              <a:path w="4527973" h="819573">
                <a:moveTo>
                  <a:pt x="101603" y="0"/>
                </a:moveTo>
                <a:lnTo>
                  <a:pt x="4426371" y="0"/>
                </a:lnTo>
                <a:cubicBezTo>
                  <a:pt x="4482484" y="0"/>
                  <a:pt x="4527973" y="45489"/>
                  <a:pt x="4527973" y="101603"/>
                </a:cubicBezTo>
                <a:lnTo>
                  <a:pt x="4527973" y="717971"/>
                </a:lnTo>
                <a:cubicBezTo>
                  <a:pt x="4527973" y="774084"/>
                  <a:pt x="4482484" y="819573"/>
                  <a:pt x="4426371" y="819573"/>
                </a:cubicBezTo>
                <a:lnTo>
                  <a:pt x="101603" y="819573"/>
                </a:lnTo>
                <a:cubicBezTo>
                  <a:pt x="45489" y="819573"/>
                  <a:pt x="0" y="774084"/>
                  <a:pt x="0" y="717971"/>
                </a:cubicBezTo>
                <a:lnTo>
                  <a:pt x="0" y="101603"/>
                </a:lnTo>
                <a:cubicBezTo>
                  <a:pt x="0" y="45489"/>
                  <a:pt x="45489" y="0"/>
                  <a:pt x="1016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42347" y="6111236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5400" y="0"/>
                </a:moveTo>
                <a:cubicBezTo>
                  <a:pt x="11390" y="0"/>
                  <a:pt x="0" y="11390"/>
                  <a:pt x="0" y="25400"/>
                </a:cubicBezTo>
                <a:lnTo>
                  <a:pt x="0" y="177800"/>
                </a:lnTo>
                <a:cubicBezTo>
                  <a:pt x="0" y="191810"/>
                  <a:pt x="11390" y="203200"/>
                  <a:pt x="25400" y="203200"/>
                </a:cubicBezTo>
                <a:lnTo>
                  <a:pt x="127000" y="203200"/>
                </a:lnTo>
                <a:cubicBezTo>
                  <a:pt x="141010" y="203200"/>
                  <a:pt x="152400" y="191810"/>
                  <a:pt x="152400" y="177800"/>
                </a:cubicBezTo>
                <a:lnTo>
                  <a:pt x="152400" y="25400"/>
                </a:lnTo>
                <a:cubicBezTo>
                  <a:pt x="152400" y="11390"/>
                  <a:pt x="141010" y="0"/>
                  <a:pt x="127000" y="0"/>
                </a:cubicBezTo>
                <a:lnTo>
                  <a:pt x="25400" y="0"/>
                </a:lnTo>
                <a:close/>
                <a:moveTo>
                  <a:pt x="38100" y="25400"/>
                </a:moveTo>
                <a:lnTo>
                  <a:pt x="114300" y="25400"/>
                </a:lnTo>
                <a:cubicBezTo>
                  <a:pt x="121325" y="25400"/>
                  <a:pt x="127000" y="31075"/>
                  <a:pt x="127000" y="38100"/>
                </a:cubicBezTo>
                <a:lnTo>
                  <a:pt x="127000" y="50800"/>
                </a:lnTo>
                <a:cubicBezTo>
                  <a:pt x="127000" y="57825"/>
                  <a:pt x="121325" y="63500"/>
                  <a:pt x="114300" y="63500"/>
                </a:cubicBezTo>
                <a:lnTo>
                  <a:pt x="38100" y="63500"/>
                </a:lnTo>
                <a:cubicBezTo>
                  <a:pt x="31075" y="63500"/>
                  <a:pt x="25400" y="57825"/>
                  <a:pt x="25400" y="50800"/>
                </a:cubicBezTo>
                <a:lnTo>
                  <a:pt x="25400" y="38100"/>
                </a:lnTo>
                <a:cubicBezTo>
                  <a:pt x="25400" y="31075"/>
                  <a:pt x="31075" y="25400"/>
                  <a:pt x="38100" y="25400"/>
                </a:cubicBezTo>
                <a:close/>
                <a:moveTo>
                  <a:pt x="44450" y="92075"/>
                </a:moveTo>
                <a:cubicBezTo>
                  <a:pt x="44450" y="97332"/>
                  <a:pt x="40182" y="101600"/>
                  <a:pt x="34925" y="101600"/>
                </a:cubicBezTo>
                <a:cubicBezTo>
                  <a:pt x="29668" y="101600"/>
                  <a:pt x="25400" y="97332"/>
                  <a:pt x="25400" y="92075"/>
                </a:cubicBezTo>
                <a:cubicBezTo>
                  <a:pt x="25400" y="86818"/>
                  <a:pt x="29668" y="82550"/>
                  <a:pt x="34925" y="82550"/>
                </a:cubicBezTo>
                <a:cubicBezTo>
                  <a:pt x="40182" y="82550"/>
                  <a:pt x="44450" y="86818"/>
                  <a:pt x="44450" y="92075"/>
                </a:cubicBezTo>
                <a:close/>
                <a:moveTo>
                  <a:pt x="76200" y="101600"/>
                </a:moveTo>
                <a:cubicBezTo>
                  <a:pt x="70943" y="101600"/>
                  <a:pt x="66675" y="97332"/>
                  <a:pt x="66675" y="92075"/>
                </a:cubicBezTo>
                <a:cubicBezTo>
                  <a:pt x="66675" y="86818"/>
                  <a:pt x="70943" y="82550"/>
                  <a:pt x="76200" y="82550"/>
                </a:cubicBezTo>
                <a:cubicBezTo>
                  <a:pt x="81457" y="82550"/>
                  <a:pt x="85725" y="86818"/>
                  <a:pt x="85725" y="92075"/>
                </a:cubicBezTo>
                <a:cubicBezTo>
                  <a:pt x="85725" y="97332"/>
                  <a:pt x="81457" y="101600"/>
                  <a:pt x="76200" y="101600"/>
                </a:cubicBezTo>
                <a:close/>
                <a:moveTo>
                  <a:pt x="127000" y="92075"/>
                </a:moveTo>
                <a:cubicBezTo>
                  <a:pt x="127000" y="97332"/>
                  <a:pt x="122732" y="101600"/>
                  <a:pt x="117475" y="101600"/>
                </a:cubicBezTo>
                <a:cubicBezTo>
                  <a:pt x="112218" y="101600"/>
                  <a:pt x="107950" y="97332"/>
                  <a:pt x="107950" y="92075"/>
                </a:cubicBezTo>
                <a:cubicBezTo>
                  <a:pt x="107950" y="86818"/>
                  <a:pt x="112218" y="82550"/>
                  <a:pt x="117475" y="82550"/>
                </a:cubicBezTo>
                <a:cubicBezTo>
                  <a:pt x="122732" y="82550"/>
                  <a:pt x="127000" y="86818"/>
                  <a:pt x="127000" y="92075"/>
                </a:cubicBezTo>
                <a:close/>
                <a:moveTo>
                  <a:pt x="34925" y="139700"/>
                </a:moveTo>
                <a:cubicBezTo>
                  <a:pt x="29668" y="139700"/>
                  <a:pt x="25400" y="135432"/>
                  <a:pt x="25400" y="130175"/>
                </a:cubicBezTo>
                <a:cubicBezTo>
                  <a:pt x="25400" y="124918"/>
                  <a:pt x="29668" y="120650"/>
                  <a:pt x="34925" y="120650"/>
                </a:cubicBezTo>
                <a:cubicBezTo>
                  <a:pt x="40182" y="120650"/>
                  <a:pt x="44450" y="124918"/>
                  <a:pt x="44450" y="130175"/>
                </a:cubicBezTo>
                <a:cubicBezTo>
                  <a:pt x="44450" y="135432"/>
                  <a:pt x="40182" y="139700"/>
                  <a:pt x="34925" y="139700"/>
                </a:cubicBezTo>
                <a:close/>
                <a:moveTo>
                  <a:pt x="85725" y="130175"/>
                </a:moveTo>
                <a:cubicBezTo>
                  <a:pt x="85725" y="135432"/>
                  <a:pt x="81457" y="139700"/>
                  <a:pt x="76200" y="139700"/>
                </a:cubicBezTo>
                <a:cubicBezTo>
                  <a:pt x="70943" y="139700"/>
                  <a:pt x="66675" y="135432"/>
                  <a:pt x="66675" y="130175"/>
                </a:cubicBezTo>
                <a:cubicBezTo>
                  <a:pt x="66675" y="124918"/>
                  <a:pt x="70943" y="120650"/>
                  <a:pt x="76200" y="120650"/>
                </a:cubicBezTo>
                <a:cubicBezTo>
                  <a:pt x="81457" y="120650"/>
                  <a:pt x="85725" y="124918"/>
                  <a:pt x="85725" y="130175"/>
                </a:cubicBezTo>
                <a:close/>
                <a:moveTo>
                  <a:pt x="117475" y="139700"/>
                </a:moveTo>
                <a:cubicBezTo>
                  <a:pt x="112218" y="139700"/>
                  <a:pt x="107950" y="135432"/>
                  <a:pt x="107950" y="130175"/>
                </a:cubicBezTo>
                <a:cubicBezTo>
                  <a:pt x="107950" y="124918"/>
                  <a:pt x="112218" y="120650"/>
                  <a:pt x="117475" y="120650"/>
                </a:cubicBezTo>
                <a:cubicBezTo>
                  <a:pt x="122732" y="120650"/>
                  <a:pt x="127000" y="124918"/>
                  <a:pt x="127000" y="130175"/>
                </a:cubicBezTo>
                <a:cubicBezTo>
                  <a:pt x="127000" y="135432"/>
                  <a:pt x="122732" y="139700"/>
                  <a:pt x="117475" y="139700"/>
                </a:cubicBezTo>
                <a:close/>
                <a:moveTo>
                  <a:pt x="25400" y="168275"/>
                </a:moveTo>
                <a:cubicBezTo>
                  <a:pt x="25400" y="162997"/>
                  <a:pt x="29647" y="158750"/>
                  <a:pt x="34925" y="158750"/>
                </a:cubicBezTo>
                <a:lnTo>
                  <a:pt x="79375" y="158750"/>
                </a:lnTo>
                <a:cubicBezTo>
                  <a:pt x="84653" y="158750"/>
                  <a:pt x="88900" y="162997"/>
                  <a:pt x="88900" y="168275"/>
                </a:cubicBezTo>
                <a:cubicBezTo>
                  <a:pt x="88900" y="173553"/>
                  <a:pt x="84653" y="177800"/>
                  <a:pt x="79375" y="177800"/>
                </a:cubicBezTo>
                <a:lnTo>
                  <a:pt x="34925" y="177800"/>
                </a:lnTo>
                <a:cubicBezTo>
                  <a:pt x="29647" y="177800"/>
                  <a:pt x="25400" y="173553"/>
                  <a:pt x="25400" y="168275"/>
                </a:cubicBezTo>
                <a:close/>
                <a:moveTo>
                  <a:pt x="117475" y="158750"/>
                </a:moveTo>
                <a:cubicBezTo>
                  <a:pt x="122753" y="158750"/>
                  <a:pt x="127000" y="162997"/>
                  <a:pt x="127000" y="168275"/>
                </a:cubicBezTo>
                <a:cubicBezTo>
                  <a:pt x="127000" y="173553"/>
                  <a:pt x="122753" y="177800"/>
                  <a:pt x="117475" y="177800"/>
                </a:cubicBezTo>
                <a:cubicBezTo>
                  <a:pt x="112197" y="177800"/>
                  <a:pt x="107950" y="173553"/>
                  <a:pt x="107950" y="168275"/>
                </a:cubicBezTo>
                <a:cubicBezTo>
                  <a:pt x="107950" y="162997"/>
                  <a:pt x="112197" y="158750"/>
                  <a:pt x="117475" y="15875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3" name="Text 31"/>
          <p:cNvSpPr/>
          <p:nvPr/>
        </p:nvSpPr>
        <p:spPr>
          <a:xfrm>
            <a:off x="2147147" y="6085836"/>
            <a:ext cx="60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791547" y="6390636"/>
            <a:ext cx="429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current database infrastructure costs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1743" y="5930051"/>
            <a:ext cx="4527973" cy="819573"/>
          </a:xfrm>
          <a:custGeom>
            <a:avLst/>
            <a:gdLst/>
            <a:ahLst/>
            <a:cxnLst/>
            <a:rect l="l" t="t" r="r" b="b"/>
            <a:pathLst>
              <a:path w="4527973" h="819573">
                <a:moveTo>
                  <a:pt x="101603" y="0"/>
                </a:moveTo>
                <a:lnTo>
                  <a:pt x="4426371" y="0"/>
                </a:lnTo>
                <a:cubicBezTo>
                  <a:pt x="4482484" y="0"/>
                  <a:pt x="4527973" y="45489"/>
                  <a:pt x="4527973" y="101603"/>
                </a:cubicBezTo>
                <a:lnTo>
                  <a:pt x="4527973" y="717971"/>
                </a:lnTo>
                <a:cubicBezTo>
                  <a:pt x="4527973" y="774084"/>
                  <a:pt x="4482484" y="819573"/>
                  <a:pt x="4426371" y="819573"/>
                </a:cubicBezTo>
                <a:lnTo>
                  <a:pt x="101603" y="819573"/>
                </a:lnTo>
                <a:cubicBezTo>
                  <a:pt x="45489" y="819573"/>
                  <a:pt x="0" y="774084"/>
                  <a:pt x="0" y="717971"/>
                </a:cubicBezTo>
                <a:lnTo>
                  <a:pt x="0" y="101603"/>
                </a:lnTo>
                <a:cubicBezTo>
                  <a:pt x="0" y="45489"/>
                  <a:pt x="45489" y="0"/>
                  <a:pt x="1016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0229" y="6111236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0" y="133350"/>
                </a:moveTo>
                <a:cubicBezTo>
                  <a:pt x="0" y="164902"/>
                  <a:pt x="25598" y="190500"/>
                  <a:pt x="57150" y="190500"/>
                </a:cubicBezTo>
                <a:lnTo>
                  <a:pt x="177800" y="190500"/>
                </a:lnTo>
                <a:cubicBezTo>
                  <a:pt x="205859" y="190500"/>
                  <a:pt x="228600" y="167759"/>
                  <a:pt x="228600" y="139700"/>
                </a:cubicBezTo>
                <a:cubicBezTo>
                  <a:pt x="228600" y="119221"/>
                  <a:pt x="216495" y="101560"/>
                  <a:pt x="199033" y="93543"/>
                </a:cubicBezTo>
                <a:cubicBezTo>
                  <a:pt x="201692" y="88344"/>
                  <a:pt x="203200" y="82431"/>
                  <a:pt x="203200" y="76200"/>
                </a:cubicBezTo>
                <a:cubicBezTo>
                  <a:pt x="203200" y="55166"/>
                  <a:pt x="186134" y="38100"/>
                  <a:pt x="165100" y="38100"/>
                </a:cubicBezTo>
                <a:cubicBezTo>
                  <a:pt x="158075" y="38100"/>
                  <a:pt x="151527" y="40005"/>
                  <a:pt x="145891" y="43299"/>
                </a:cubicBezTo>
                <a:cubicBezTo>
                  <a:pt x="136327" y="25122"/>
                  <a:pt x="117237" y="12700"/>
                  <a:pt x="95250" y="12700"/>
                </a:cubicBezTo>
                <a:cubicBezTo>
                  <a:pt x="63698" y="12700"/>
                  <a:pt x="38100" y="38298"/>
                  <a:pt x="38100" y="69850"/>
                </a:cubicBezTo>
                <a:cubicBezTo>
                  <a:pt x="38100" y="73025"/>
                  <a:pt x="38378" y="76160"/>
                  <a:pt x="38854" y="79177"/>
                </a:cubicBezTo>
                <a:cubicBezTo>
                  <a:pt x="16272" y="86797"/>
                  <a:pt x="0" y="108188"/>
                  <a:pt x="0" y="13335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7" name="Text 35"/>
          <p:cNvSpPr/>
          <p:nvPr/>
        </p:nvSpPr>
        <p:spPr>
          <a:xfrm>
            <a:off x="6833129" y="6085836"/>
            <a:ext cx="67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Migrate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77529" y="6390636"/>
            <a:ext cx="429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 PostgreSQL migration roadmap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007726" y="5930051"/>
            <a:ext cx="4527973" cy="819573"/>
          </a:xfrm>
          <a:custGeom>
            <a:avLst/>
            <a:gdLst/>
            <a:ahLst/>
            <a:cxnLst/>
            <a:rect l="l" t="t" r="r" b="b"/>
            <a:pathLst>
              <a:path w="4527973" h="819573">
                <a:moveTo>
                  <a:pt x="101603" y="0"/>
                </a:moveTo>
                <a:lnTo>
                  <a:pt x="4426371" y="0"/>
                </a:lnTo>
                <a:cubicBezTo>
                  <a:pt x="4482484" y="0"/>
                  <a:pt x="4527973" y="45489"/>
                  <a:pt x="4527973" y="101603"/>
                </a:cubicBezTo>
                <a:lnTo>
                  <a:pt x="4527973" y="717971"/>
                </a:lnTo>
                <a:cubicBezTo>
                  <a:pt x="4527973" y="774084"/>
                  <a:pt x="4482484" y="819573"/>
                  <a:pt x="4426371" y="819573"/>
                </a:cubicBezTo>
                <a:lnTo>
                  <a:pt x="101603" y="819573"/>
                </a:lnTo>
                <a:cubicBezTo>
                  <a:pt x="45489" y="819573"/>
                  <a:pt x="0" y="774084"/>
                  <a:pt x="0" y="717971"/>
                </a:cubicBezTo>
                <a:lnTo>
                  <a:pt x="0" y="101603"/>
                </a:lnTo>
                <a:cubicBezTo>
                  <a:pt x="0" y="45489"/>
                  <a:pt x="45489" y="0"/>
                  <a:pt x="1016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188912" y="611123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25400"/>
                </a:moveTo>
                <a:cubicBezTo>
                  <a:pt x="25400" y="18375"/>
                  <a:pt x="19725" y="12700"/>
                  <a:pt x="12700" y="12700"/>
                </a:cubicBezTo>
                <a:cubicBezTo>
                  <a:pt x="5675" y="12700"/>
                  <a:pt x="0" y="18375"/>
                  <a:pt x="0" y="25400"/>
                </a:cubicBezTo>
                <a:lnTo>
                  <a:pt x="0" y="158750"/>
                </a:lnTo>
                <a:cubicBezTo>
                  <a:pt x="0" y="176292"/>
                  <a:pt x="14208" y="190500"/>
                  <a:pt x="31750" y="190500"/>
                </a:cubicBezTo>
                <a:lnTo>
                  <a:pt x="190500" y="190500"/>
                </a:lnTo>
                <a:cubicBezTo>
                  <a:pt x="197525" y="190500"/>
                  <a:pt x="203200" y="184825"/>
                  <a:pt x="203200" y="177800"/>
                </a:cubicBezTo>
                <a:cubicBezTo>
                  <a:pt x="203200" y="170775"/>
                  <a:pt x="197525" y="165100"/>
                  <a:pt x="190500" y="165100"/>
                </a:cubicBezTo>
                <a:lnTo>
                  <a:pt x="31750" y="165100"/>
                </a:lnTo>
                <a:cubicBezTo>
                  <a:pt x="28258" y="165100"/>
                  <a:pt x="25400" y="162243"/>
                  <a:pt x="25400" y="158750"/>
                </a:cubicBezTo>
                <a:lnTo>
                  <a:pt x="25400" y="25400"/>
                </a:lnTo>
                <a:close/>
                <a:moveTo>
                  <a:pt x="186769" y="59769"/>
                </a:moveTo>
                <a:cubicBezTo>
                  <a:pt x="191730" y="54808"/>
                  <a:pt x="191730" y="46752"/>
                  <a:pt x="186769" y="41791"/>
                </a:cubicBezTo>
                <a:cubicBezTo>
                  <a:pt x="181808" y="36830"/>
                  <a:pt x="173752" y="36830"/>
                  <a:pt x="168791" y="41791"/>
                </a:cubicBezTo>
                <a:lnTo>
                  <a:pt x="127000" y="83622"/>
                </a:lnTo>
                <a:lnTo>
                  <a:pt x="104219" y="60881"/>
                </a:lnTo>
                <a:cubicBezTo>
                  <a:pt x="99258" y="55920"/>
                  <a:pt x="91202" y="55920"/>
                  <a:pt x="86241" y="60881"/>
                </a:cubicBezTo>
                <a:lnTo>
                  <a:pt x="48141" y="98981"/>
                </a:lnTo>
                <a:cubicBezTo>
                  <a:pt x="43180" y="103942"/>
                  <a:pt x="43180" y="111998"/>
                  <a:pt x="48141" y="116959"/>
                </a:cubicBezTo>
                <a:cubicBezTo>
                  <a:pt x="53102" y="121920"/>
                  <a:pt x="61158" y="121920"/>
                  <a:pt x="66119" y="116959"/>
                </a:cubicBezTo>
                <a:lnTo>
                  <a:pt x="95250" y="87828"/>
                </a:lnTo>
                <a:lnTo>
                  <a:pt x="118031" y="110609"/>
                </a:lnTo>
                <a:cubicBezTo>
                  <a:pt x="122992" y="115570"/>
                  <a:pt x="131048" y="115570"/>
                  <a:pt x="136009" y="110609"/>
                </a:cubicBezTo>
                <a:lnTo>
                  <a:pt x="186809" y="59809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1" name="Text 39"/>
          <p:cNvSpPr/>
          <p:nvPr/>
        </p:nvSpPr>
        <p:spPr>
          <a:xfrm>
            <a:off x="11519112" y="6085836"/>
            <a:ext cx="77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163512" y="6390636"/>
            <a:ext cx="429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 cloud-native features for scale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11387" y="7118773"/>
            <a:ext cx="15234073" cy="1581573"/>
          </a:xfrm>
          <a:custGeom>
            <a:avLst/>
            <a:gdLst/>
            <a:ahLst/>
            <a:cxnLst/>
            <a:rect l="l" t="t" r="r" b="b"/>
            <a:pathLst>
              <a:path w="15234073" h="1581573">
                <a:moveTo>
                  <a:pt x="152400" y="0"/>
                </a:moveTo>
                <a:lnTo>
                  <a:pt x="15081673" y="0"/>
                </a:lnTo>
                <a:cubicBezTo>
                  <a:pt x="15165841" y="0"/>
                  <a:pt x="15234073" y="68232"/>
                  <a:pt x="15234073" y="152400"/>
                </a:cubicBezTo>
                <a:lnTo>
                  <a:pt x="15234073" y="1429173"/>
                </a:lnTo>
                <a:cubicBezTo>
                  <a:pt x="15234073" y="1513341"/>
                  <a:pt x="15165841" y="1581573"/>
                  <a:pt x="15081673" y="1581573"/>
                </a:cubicBezTo>
                <a:lnTo>
                  <a:pt x="152400" y="1581573"/>
                </a:lnTo>
                <a:cubicBezTo>
                  <a:pt x="68232" y="1581573"/>
                  <a:pt x="0" y="1513341"/>
                  <a:pt x="0" y="1429173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0" scaled="1"/>
          </a:gradFill>
          <a:ln w="6773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7973" y="7325358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921173" y="752855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46" name="Shape 44"/>
          <p:cNvSpPr/>
          <p:nvPr/>
        </p:nvSpPr>
        <p:spPr>
          <a:xfrm>
            <a:off x="1632373" y="7350758"/>
            <a:ext cx="1117600" cy="355600"/>
          </a:xfrm>
          <a:custGeom>
            <a:avLst/>
            <a:gdLst/>
            <a:ahLst/>
            <a:cxnLst/>
            <a:rect l="l" t="t" r="r" b="b"/>
            <a:pathLst>
              <a:path w="1117600" h="355600">
                <a:moveTo>
                  <a:pt x="177800" y="0"/>
                </a:moveTo>
                <a:lnTo>
                  <a:pt x="939800" y="0"/>
                </a:lnTo>
                <a:cubicBezTo>
                  <a:pt x="1037930" y="0"/>
                  <a:pt x="1117600" y="79670"/>
                  <a:pt x="1117600" y="177800"/>
                </a:cubicBezTo>
                <a:lnTo>
                  <a:pt x="1117600" y="177800"/>
                </a:lnTo>
                <a:cubicBezTo>
                  <a:pt x="1117600" y="275930"/>
                  <a:pt x="1037930" y="355600"/>
                  <a:pt x="939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7" name="Text 45"/>
          <p:cNvSpPr/>
          <p:nvPr/>
        </p:nvSpPr>
        <p:spPr>
          <a:xfrm>
            <a:off x="1632373" y="7350758"/>
            <a:ext cx="12065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THEME 03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899198" y="7325358"/>
            <a:ext cx="5359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Safety as Competitive Advantage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632373" y="7833358"/>
            <a:ext cx="14008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TypeScript's rapid adoption reflects industry demand for scalable, maintainable codebases. Teams should prioritize type-safe languages to reduce technical debt and accelerate development velocity.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Delaying TypeScript adoption increases long-term maintenance costs.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508000"/>
            <a:ext cx="749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Overall Findings: Industry Relevance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1200" y="1117600"/>
            <a:ext cx="151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these trends solve real business problems and create competitive advantage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1387" y="1679787"/>
            <a:ext cx="15234073" cy="2813473"/>
          </a:xfrm>
          <a:custGeom>
            <a:avLst/>
            <a:gdLst/>
            <a:ahLst/>
            <a:cxnLst/>
            <a:rect l="l" t="t" r="r" b="b"/>
            <a:pathLst>
              <a:path w="15234073" h="2813473">
                <a:moveTo>
                  <a:pt x="152406" y="0"/>
                </a:moveTo>
                <a:lnTo>
                  <a:pt x="15081667" y="0"/>
                </a:lnTo>
                <a:cubicBezTo>
                  <a:pt x="15165839" y="0"/>
                  <a:pt x="15234073" y="68234"/>
                  <a:pt x="15234073" y="152406"/>
                </a:cubicBezTo>
                <a:lnTo>
                  <a:pt x="15234073" y="2661067"/>
                </a:lnTo>
                <a:cubicBezTo>
                  <a:pt x="15234073" y="2745239"/>
                  <a:pt x="15165839" y="2813473"/>
                  <a:pt x="15081667" y="2813473"/>
                </a:cubicBezTo>
                <a:lnTo>
                  <a:pt x="152406" y="2813473"/>
                </a:lnTo>
                <a:cubicBezTo>
                  <a:pt x="68234" y="2813473"/>
                  <a:pt x="0" y="2745239"/>
                  <a:pt x="0" y="2661067"/>
                </a:cubicBezTo>
                <a:lnTo>
                  <a:pt x="0" y="152406"/>
                </a:lnTo>
                <a:cubicBezTo>
                  <a:pt x="0" y="68234"/>
                  <a:pt x="68234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523" y="198797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74575" y="138906"/>
                </a:moveTo>
                <a:lnTo>
                  <a:pt x="79871" y="138906"/>
                </a:lnTo>
                <a:cubicBezTo>
                  <a:pt x="81310" y="170904"/>
                  <a:pt x="88404" y="200372"/>
                  <a:pt x="98475" y="221952"/>
                </a:cubicBezTo>
                <a:cubicBezTo>
                  <a:pt x="104130" y="234107"/>
                  <a:pt x="110232" y="242689"/>
                  <a:pt x="115888" y="247948"/>
                </a:cubicBezTo>
                <a:cubicBezTo>
                  <a:pt x="121444" y="253157"/>
                  <a:pt x="125264" y="254000"/>
                  <a:pt x="127248" y="254000"/>
                </a:cubicBezTo>
                <a:cubicBezTo>
                  <a:pt x="129232" y="254000"/>
                  <a:pt x="133052" y="253157"/>
                  <a:pt x="138609" y="247948"/>
                </a:cubicBezTo>
                <a:cubicBezTo>
                  <a:pt x="144264" y="242689"/>
                  <a:pt x="150366" y="234057"/>
                  <a:pt x="156021" y="221952"/>
                </a:cubicBezTo>
                <a:cubicBezTo>
                  <a:pt x="166092" y="200372"/>
                  <a:pt x="173186" y="170904"/>
                  <a:pt x="174625" y="138906"/>
                </a:cubicBezTo>
                <a:close/>
                <a:moveTo>
                  <a:pt x="79821" y="115094"/>
                </a:moveTo>
                <a:lnTo>
                  <a:pt x="174526" y="115094"/>
                </a:lnTo>
                <a:cubicBezTo>
                  <a:pt x="173137" y="83096"/>
                  <a:pt x="166043" y="53628"/>
                  <a:pt x="155972" y="32048"/>
                </a:cubicBezTo>
                <a:cubicBezTo>
                  <a:pt x="150316" y="19943"/>
                  <a:pt x="144214" y="11311"/>
                  <a:pt x="138559" y="6052"/>
                </a:cubicBezTo>
                <a:cubicBezTo>
                  <a:pt x="133003" y="843"/>
                  <a:pt x="129183" y="0"/>
                  <a:pt x="127198" y="0"/>
                </a:cubicBezTo>
                <a:cubicBezTo>
                  <a:pt x="125214" y="0"/>
                  <a:pt x="121394" y="843"/>
                  <a:pt x="115838" y="6052"/>
                </a:cubicBezTo>
                <a:cubicBezTo>
                  <a:pt x="110182" y="11311"/>
                  <a:pt x="104080" y="19943"/>
                  <a:pt x="98425" y="32048"/>
                </a:cubicBezTo>
                <a:cubicBezTo>
                  <a:pt x="88354" y="53628"/>
                  <a:pt x="81260" y="83096"/>
                  <a:pt x="79821" y="115094"/>
                </a:cubicBezTo>
                <a:close/>
                <a:moveTo>
                  <a:pt x="56009" y="115094"/>
                </a:moveTo>
                <a:cubicBezTo>
                  <a:pt x="57745" y="72628"/>
                  <a:pt x="68709" y="33189"/>
                  <a:pt x="84733" y="7293"/>
                </a:cubicBezTo>
                <a:cubicBezTo>
                  <a:pt x="39043" y="23465"/>
                  <a:pt x="5407" y="65088"/>
                  <a:pt x="744" y="115094"/>
                </a:cubicBezTo>
                <a:lnTo>
                  <a:pt x="56009" y="115094"/>
                </a:lnTo>
                <a:close/>
                <a:moveTo>
                  <a:pt x="744" y="138906"/>
                </a:moveTo>
                <a:cubicBezTo>
                  <a:pt x="5407" y="188913"/>
                  <a:pt x="39043" y="230535"/>
                  <a:pt x="84733" y="246707"/>
                </a:cubicBezTo>
                <a:cubicBezTo>
                  <a:pt x="68709" y="220811"/>
                  <a:pt x="57745" y="181372"/>
                  <a:pt x="56009" y="138906"/>
                </a:cubicBezTo>
                <a:lnTo>
                  <a:pt x="744" y="138906"/>
                </a:lnTo>
                <a:close/>
                <a:moveTo>
                  <a:pt x="198388" y="138906"/>
                </a:moveTo>
                <a:cubicBezTo>
                  <a:pt x="196652" y="181372"/>
                  <a:pt x="185688" y="220811"/>
                  <a:pt x="169664" y="246707"/>
                </a:cubicBezTo>
                <a:cubicBezTo>
                  <a:pt x="215354" y="230485"/>
                  <a:pt x="248989" y="188913"/>
                  <a:pt x="253653" y="138906"/>
                </a:cubicBezTo>
                <a:lnTo>
                  <a:pt x="198388" y="138906"/>
                </a:lnTo>
                <a:close/>
                <a:moveTo>
                  <a:pt x="253653" y="115094"/>
                </a:moveTo>
                <a:cubicBezTo>
                  <a:pt x="248989" y="65088"/>
                  <a:pt x="215354" y="23465"/>
                  <a:pt x="169664" y="7293"/>
                </a:cubicBezTo>
                <a:cubicBezTo>
                  <a:pt x="185688" y="33189"/>
                  <a:pt x="196652" y="72628"/>
                  <a:pt x="198388" y="115094"/>
                </a:cubicBezTo>
                <a:lnTo>
                  <a:pt x="253653" y="11509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1086273" y="1937172"/>
            <a:ext cx="1452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Forces Transforming Technology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2160" y="2448558"/>
            <a:ext cx="4769273" cy="1784773"/>
          </a:xfrm>
          <a:custGeom>
            <a:avLst/>
            <a:gdLst/>
            <a:ahLst/>
            <a:cxnLst/>
            <a:rect l="l" t="t" r="r" b="b"/>
            <a:pathLst>
              <a:path w="4769273" h="1784773">
                <a:moveTo>
                  <a:pt x="101607" y="0"/>
                </a:moveTo>
                <a:lnTo>
                  <a:pt x="4667666" y="0"/>
                </a:lnTo>
                <a:cubicBezTo>
                  <a:pt x="4723782" y="0"/>
                  <a:pt x="4769273" y="45491"/>
                  <a:pt x="4769273" y="101607"/>
                </a:cubicBezTo>
                <a:lnTo>
                  <a:pt x="4769273" y="1683166"/>
                </a:lnTo>
                <a:cubicBezTo>
                  <a:pt x="4769273" y="1739282"/>
                  <a:pt x="4723782" y="1784773"/>
                  <a:pt x="4667666" y="1784773"/>
                </a:cubicBezTo>
                <a:lnTo>
                  <a:pt x="101607" y="1784773"/>
                </a:lnTo>
                <a:cubicBezTo>
                  <a:pt x="45491" y="1784773"/>
                  <a:pt x="0" y="1739282"/>
                  <a:pt x="0" y="1683166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747" y="265514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4947" y="2756743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39700" y="0"/>
                </a:moveTo>
                <a:cubicBezTo>
                  <a:pt x="139700" y="-7025"/>
                  <a:pt x="134025" y="-12700"/>
                  <a:pt x="127000" y="-12700"/>
                </a:cubicBezTo>
                <a:cubicBezTo>
                  <a:pt x="119975" y="-12700"/>
                  <a:pt x="114300" y="-7025"/>
                  <a:pt x="114300" y="0"/>
                </a:cubicBezTo>
                <a:lnTo>
                  <a:pt x="114300" y="25400"/>
                </a:lnTo>
                <a:lnTo>
                  <a:pt x="76200" y="25400"/>
                </a:lnTo>
                <a:cubicBezTo>
                  <a:pt x="55166" y="25400"/>
                  <a:pt x="38100" y="42466"/>
                  <a:pt x="38100" y="63500"/>
                </a:cubicBezTo>
                <a:lnTo>
                  <a:pt x="38100" y="152400"/>
                </a:lnTo>
                <a:cubicBezTo>
                  <a:pt x="38100" y="173434"/>
                  <a:pt x="55166" y="190500"/>
                  <a:pt x="76200" y="190500"/>
                </a:cubicBezTo>
                <a:lnTo>
                  <a:pt x="177800" y="190500"/>
                </a:lnTo>
                <a:cubicBezTo>
                  <a:pt x="198834" y="190500"/>
                  <a:pt x="215900" y="173434"/>
                  <a:pt x="215900" y="152400"/>
                </a:cubicBezTo>
                <a:lnTo>
                  <a:pt x="215900" y="63500"/>
                </a:lnTo>
                <a:cubicBezTo>
                  <a:pt x="215900" y="42466"/>
                  <a:pt x="198834" y="25400"/>
                  <a:pt x="177800" y="25400"/>
                </a:cubicBezTo>
                <a:lnTo>
                  <a:pt x="139700" y="25400"/>
                </a:lnTo>
                <a:lnTo>
                  <a:pt x="139700" y="0"/>
                </a:lnTo>
                <a:close/>
                <a:moveTo>
                  <a:pt x="63500" y="146050"/>
                </a:moveTo>
                <a:cubicBezTo>
                  <a:pt x="63500" y="140772"/>
                  <a:pt x="67747" y="136525"/>
                  <a:pt x="73025" y="136525"/>
                </a:cubicBezTo>
                <a:lnTo>
                  <a:pt x="85725" y="136525"/>
                </a:lnTo>
                <a:cubicBezTo>
                  <a:pt x="91003" y="136525"/>
                  <a:pt x="95250" y="140772"/>
                  <a:pt x="95250" y="146050"/>
                </a:cubicBezTo>
                <a:cubicBezTo>
                  <a:pt x="95250" y="151328"/>
                  <a:pt x="91003" y="155575"/>
                  <a:pt x="85725" y="155575"/>
                </a:cubicBezTo>
                <a:lnTo>
                  <a:pt x="73025" y="155575"/>
                </a:lnTo>
                <a:cubicBezTo>
                  <a:pt x="67747" y="155575"/>
                  <a:pt x="63500" y="151328"/>
                  <a:pt x="63500" y="146050"/>
                </a:cubicBezTo>
                <a:close/>
                <a:moveTo>
                  <a:pt x="111125" y="146050"/>
                </a:moveTo>
                <a:cubicBezTo>
                  <a:pt x="111125" y="140772"/>
                  <a:pt x="115372" y="136525"/>
                  <a:pt x="120650" y="136525"/>
                </a:cubicBezTo>
                <a:lnTo>
                  <a:pt x="133350" y="136525"/>
                </a:lnTo>
                <a:cubicBezTo>
                  <a:pt x="138628" y="136525"/>
                  <a:pt x="142875" y="140772"/>
                  <a:pt x="142875" y="146050"/>
                </a:cubicBezTo>
                <a:cubicBezTo>
                  <a:pt x="142875" y="151328"/>
                  <a:pt x="138628" y="155575"/>
                  <a:pt x="133350" y="155575"/>
                </a:cubicBezTo>
                <a:lnTo>
                  <a:pt x="120650" y="155575"/>
                </a:lnTo>
                <a:cubicBezTo>
                  <a:pt x="115372" y="155575"/>
                  <a:pt x="111125" y="151328"/>
                  <a:pt x="111125" y="146050"/>
                </a:cubicBezTo>
                <a:close/>
                <a:moveTo>
                  <a:pt x="158750" y="146050"/>
                </a:moveTo>
                <a:cubicBezTo>
                  <a:pt x="158750" y="140772"/>
                  <a:pt x="162997" y="136525"/>
                  <a:pt x="168275" y="136525"/>
                </a:cubicBezTo>
                <a:lnTo>
                  <a:pt x="180975" y="136525"/>
                </a:lnTo>
                <a:cubicBezTo>
                  <a:pt x="186253" y="136525"/>
                  <a:pt x="190500" y="140772"/>
                  <a:pt x="190500" y="146050"/>
                </a:cubicBezTo>
                <a:cubicBezTo>
                  <a:pt x="190500" y="151328"/>
                  <a:pt x="186253" y="155575"/>
                  <a:pt x="180975" y="155575"/>
                </a:cubicBezTo>
                <a:lnTo>
                  <a:pt x="168275" y="155575"/>
                </a:lnTo>
                <a:cubicBezTo>
                  <a:pt x="162997" y="155575"/>
                  <a:pt x="158750" y="151328"/>
                  <a:pt x="158750" y="146050"/>
                </a:cubicBezTo>
                <a:close/>
                <a:moveTo>
                  <a:pt x="88900" y="69850"/>
                </a:moveTo>
                <a:cubicBezTo>
                  <a:pt x="99414" y="69850"/>
                  <a:pt x="107950" y="78386"/>
                  <a:pt x="107950" y="88900"/>
                </a:cubicBezTo>
                <a:cubicBezTo>
                  <a:pt x="107950" y="99414"/>
                  <a:pt x="99414" y="107950"/>
                  <a:pt x="88900" y="107950"/>
                </a:cubicBezTo>
                <a:cubicBezTo>
                  <a:pt x="78386" y="107950"/>
                  <a:pt x="69850" y="99414"/>
                  <a:pt x="69850" y="88900"/>
                </a:cubicBezTo>
                <a:cubicBezTo>
                  <a:pt x="69850" y="78386"/>
                  <a:pt x="78386" y="69850"/>
                  <a:pt x="88900" y="69850"/>
                </a:cubicBezTo>
                <a:close/>
                <a:moveTo>
                  <a:pt x="146050" y="88900"/>
                </a:moveTo>
                <a:cubicBezTo>
                  <a:pt x="146050" y="78386"/>
                  <a:pt x="154586" y="69850"/>
                  <a:pt x="165100" y="69850"/>
                </a:cubicBezTo>
                <a:cubicBezTo>
                  <a:pt x="175614" y="69850"/>
                  <a:pt x="184150" y="78386"/>
                  <a:pt x="184150" y="88900"/>
                </a:cubicBezTo>
                <a:cubicBezTo>
                  <a:pt x="184150" y="99414"/>
                  <a:pt x="175614" y="107950"/>
                  <a:pt x="165100" y="107950"/>
                </a:cubicBezTo>
                <a:cubicBezTo>
                  <a:pt x="154586" y="107950"/>
                  <a:pt x="146050" y="99414"/>
                  <a:pt x="146050" y="88900"/>
                </a:cubicBezTo>
                <a:close/>
                <a:moveTo>
                  <a:pt x="25400" y="88900"/>
                </a:moveTo>
                <a:cubicBezTo>
                  <a:pt x="25400" y="81875"/>
                  <a:pt x="19725" y="76200"/>
                  <a:pt x="12700" y="76200"/>
                </a:cubicBezTo>
                <a:cubicBezTo>
                  <a:pt x="5675" y="76200"/>
                  <a:pt x="0" y="81875"/>
                  <a:pt x="0" y="88900"/>
                </a:cubicBezTo>
                <a:lnTo>
                  <a:pt x="0" y="127000"/>
                </a:lnTo>
                <a:cubicBezTo>
                  <a:pt x="0" y="134025"/>
                  <a:pt x="5675" y="139700"/>
                  <a:pt x="12700" y="139700"/>
                </a:cubicBezTo>
                <a:cubicBezTo>
                  <a:pt x="19725" y="139700"/>
                  <a:pt x="25400" y="134025"/>
                  <a:pt x="25400" y="127000"/>
                </a:cubicBezTo>
                <a:lnTo>
                  <a:pt x="25400" y="88900"/>
                </a:lnTo>
                <a:close/>
                <a:moveTo>
                  <a:pt x="241300" y="76200"/>
                </a:moveTo>
                <a:cubicBezTo>
                  <a:pt x="234275" y="76200"/>
                  <a:pt x="228600" y="81875"/>
                  <a:pt x="228600" y="88900"/>
                </a:cubicBezTo>
                <a:lnTo>
                  <a:pt x="228600" y="127000"/>
                </a:lnTo>
                <a:cubicBezTo>
                  <a:pt x="228600" y="134025"/>
                  <a:pt x="234275" y="139700"/>
                  <a:pt x="241300" y="139700"/>
                </a:cubicBezTo>
                <a:cubicBezTo>
                  <a:pt x="248325" y="139700"/>
                  <a:pt x="254000" y="134025"/>
                  <a:pt x="254000" y="127000"/>
                </a:cubicBezTo>
                <a:lnTo>
                  <a:pt x="254000" y="88900"/>
                </a:lnTo>
                <a:cubicBezTo>
                  <a:pt x="254000" y="81875"/>
                  <a:pt x="248325" y="76200"/>
                  <a:pt x="241300" y="762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1486747" y="2705943"/>
            <a:ext cx="179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AI/ML Proliferation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8747" y="3163143"/>
            <a:ext cx="4445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Favoring Python and specialized databases. Organizations that embrace AI-first development gain significant competitive advantages.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46009" y="2448558"/>
            <a:ext cx="4769273" cy="1784773"/>
          </a:xfrm>
          <a:custGeom>
            <a:avLst/>
            <a:gdLst/>
            <a:ahLst/>
            <a:cxnLst/>
            <a:rect l="l" t="t" r="r" b="b"/>
            <a:pathLst>
              <a:path w="4769273" h="1784773">
                <a:moveTo>
                  <a:pt x="101607" y="0"/>
                </a:moveTo>
                <a:lnTo>
                  <a:pt x="4667666" y="0"/>
                </a:lnTo>
                <a:cubicBezTo>
                  <a:pt x="4723782" y="0"/>
                  <a:pt x="4769273" y="45491"/>
                  <a:pt x="4769273" y="101607"/>
                </a:cubicBezTo>
                <a:lnTo>
                  <a:pt x="4769273" y="1683166"/>
                </a:lnTo>
                <a:cubicBezTo>
                  <a:pt x="4769273" y="1739282"/>
                  <a:pt x="4723782" y="1784773"/>
                  <a:pt x="4667666" y="1784773"/>
                </a:cubicBezTo>
                <a:lnTo>
                  <a:pt x="101607" y="1784773"/>
                </a:lnTo>
                <a:cubicBezTo>
                  <a:pt x="45491" y="1784773"/>
                  <a:pt x="0" y="1739282"/>
                  <a:pt x="0" y="1683166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52596" y="265514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041496" y="2756743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0" y="133350"/>
                </a:moveTo>
                <a:cubicBezTo>
                  <a:pt x="0" y="164902"/>
                  <a:pt x="25598" y="190500"/>
                  <a:pt x="57150" y="190500"/>
                </a:cubicBezTo>
                <a:lnTo>
                  <a:pt x="177800" y="190500"/>
                </a:lnTo>
                <a:cubicBezTo>
                  <a:pt x="205859" y="190500"/>
                  <a:pt x="228600" y="167759"/>
                  <a:pt x="228600" y="139700"/>
                </a:cubicBezTo>
                <a:cubicBezTo>
                  <a:pt x="228600" y="119221"/>
                  <a:pt x="216495" y="101560"/>
                  <a:pt x="199033" y="93543"/>
                </a:cubicBezTo>
                <a:cubicBezTo>
                  <a:pt x="201692" y="88344"/>
                  <a:pt x="203200" y="82431"/>
                  <a:pt x="203200" y="76200"/>
                </a:cubicBezTo>
                <a:cubicBezTo>
                  <a:pt x="203200" y="55166"/>
                  <a:pt x="186134" y="38100"/>
                  <a:pt x="165100" y="38100"/>
                </a:cubicBezTo>
                <a:cubicBezTo>
                  <a:pt x="158075" y="38100"/>
                  <a:pt x="151527" y="40005"/>
                  <a:pt x="145891" y="43299"/>
                </a:cubicBezTo>
                <a:cubicBezTo>
                  <a:pt x="136327" y="25122"/>
                  <a:pt x="117237" y="12700"/>
                  <a:pt x="95250" y="12700"/>
                </a:cubicBezTo>
                <a:cubicBezTo>
                  <a:pt x="63698" y="12700"/>
                  <a:pt x="38100" y="38298"/>
                  <a:pt x="38100" y="69850"/>
                </a:cubicBezTo>
                <a:cubicBezTo>
                  <a:pt x="38100" y="73025"/>
                  <a:pt x="38378" y="76160"/>
                  <a:pt x="38854" y="79177"/>
                </a:cubicBezTo>
                <a:cubicBezTo>
                  <a:pt x="16272" y="86797"/>
                  <a:pt x="0" y="108188"/>
                  <a:pt x="0" y="13335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6" name="Text 14"/>
          <p:cNvSpPr/>
          <p:nvPr/>
        </p:nvSpPr>
        <p:spPr>
          <a:xfrm>
            <a:off x="6460596" y="2705943"/>
            <a:ext cx="215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Cloud-Native Adoption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52596" y="3163143"/>
            <a:ext cx="4445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Accelerating database modernization. Cloud-first strategies reduce infrastructure costs and improve scalability.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19859" y="2448558"/>
            <a:ext cx="4769273" cy="1784773"/>
          </a:xfrm>
          <a:custGeom>
            <a:avLst/>
            <a:gdLst/>
            <a:ahLst/>
            <a:cxnLst/>
            <a:rect l="l" t="t" r="r" b="b"/>
            <a:pathLst>
              <a:path w="4769273" h="1784773">
                <a:moveTo>
                  <a:pt x="101607" y="0"/>
                </a:moveTo>
                <a:lnTo>
                  <a:pt x="4667666" y="0"/>
                </a:lnTo>
                <a:cubicBezTo>
                  <a:pt x="4723782" y="0"/>
                  <a:pt x="4769273" y="45491"/>
                  <a:pt x="4769273" y="101607"/>
                </a:cubicBezTo>
                <a:lnTo>
                  <a:pt x="4769273" y="1683166"/>
                </a:lnTo>
                <a:cubicBezTo>
                  <a:pt x="4769273" y="1739282"/>
                  <a:pt x="4723782" y="1784773"/>
                  <a:pt x="4667666" y="1784773"/>
                </a:cubicBezTo>
                <a:lnTo>
                  <a:pt x="101607" y="1784773"/>
                </a:lnTo>
                <a:cubicBezTo>
                  <a:pt x="45491" y="1784773"/>
                  <a:pt x="0" y="1739282"/>
                  <a:pt x="0" y="1683166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26445" y="265514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015345" y="2756743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43193" y="476"/>
                </a:moveTo>
                <a:cubicBezTo>
                  <a:pt x="136446" y="-1468"/>
                  <a:pt x="129421" y="2461"/>
                  <a:pt x="127476" y="9207"/>
                </a:cubicBezTo>
                <a:lnTo>
                  <a:pt x="76676" y="187008"/>
                </a:lnTo>
                <a:cubicBezTo>
                  <a:pt x="74732" y="193754"/>
                  <a:pt x="78661" y="200779"/>
                  <a:pt x="85408" y="202724"/>
                </a:cubicBezTo>
                <a:cubicBezTo>
                  <a:pt x="92154" y="204668"/>
                  <a:pt x="99179" y="200739"/>
                  <a:pt x="101124" y="193993"/>
                </a:cubicBezTo>
                <a:lnTo>
                  <a:pt x="151924" y="16193"/>
                </a:lnTo>
                <a:cubicBezTo>
                  <a:pt x="153868" y="9446"/>
                  <a:pt x="149939" y="2421"/>
                  <a:pt x="143192" y="476"/>
                </a:cubicBezTo>
                <a:close/>
                <a:moveTo>
                  <a:pt x="168831" y="54491"/>
                </a:moveTo>
                <a:cubicBezTo>
                  <a:pt x="163870" y="59452"/>
                  <a:pt x="163870" y="67508"/>
                  <a:pt x="168831" y="72469"/>
                </a:cubicBezTo>
                <a:lnTo>
                  <a:pt x="197961" y="101600"/>
                </a:lnTo>
                <a:lnTo>
                  <a:pt x="168831" y="130731"/>
                </a:lnTo>
                <a:cubicBezTo>
                  <a:pt x="163870" y="135692"/>
                  <a:pt x="163870" y="143748"/>
                  <a:pt x="168831" y="148709"/>
                </a:cubicBezTo>
                <a:cubicBezTo>
                  <a:pt x="173792" y="153670"/>
                  <a:pt x="181848" y="153670"/>
                  <a:pt x="186809" y="148709"/>
                </a:cubicBezTo>
                <a:lnTo>
                  <a:pt x="224909" y="110609"/>
                </a:lnTo>
                <a:cubicBezTo>
                  <a:pt x="229870" y="105648"/>
                  <a:pt x="229870" y="97592"/>
                  <a:pt x="224909" y="92631"/>
                </a:cubicBezTo>
                <a:lnTo>
                  <a:pt x="186809" y="54531"/>
                </a:lnTo>
                <a:cubicBezTo>
                  <a:pt x="181848" y="49570"/>
                  <a:pt x="173792" y="49570"/>
                  <a:pt x="168831" y="54531"/>
                </a:cubicBezTo>
                <a:close/>
                <a:moveTo>
                  <a:pt x="59809" y="54491"/>
                </a:moveTo>
                <a:cubicBezTo>
                  <a:pt x="54848" y="49530"/>
                  <a:pt x="46792" y="49530"/>
                  <a:pt x="41831" y="54491"/>
                </a:cubicBezTo>
                <a:lnTo>
                  <a:pt x="3731" y="92591"/>
                </a:lnTo>
                <a:cubicBezTo>
                  <a:pt x="-1230" y="97552"/>
                  <a:pt x="-1230" y="105608"/>
                  <a:pt x="3731" y="110569"/>
                </a:cubicBezTo>
                <a:lnTo>
                  <a:pt x="41831" y="148669"/>
                </a:lnTo>
                <a:cubicBezTo>
                  <a:pt x="46792" y="153630"/>
                  <a:pt x="54848" y="153630"/>
                  <a:pt x="59809" y="148669"/>
                </a:cubicBezTo>
                <a:cubicBezTo>
                  <a:pt x="64770" y="143708"/>
                  <a:pt x="64770" y="135652"/>
                  <a:pt x="59809" y="130691"/>
                </a:cubicBezTo>
                <a:lnTo>
                  <a:pt x="30678" y="101600"/>
                </a:lnTo>
                <a:lnTo>
                  <a:pt x="59769" y="72469"/>
                </a:lnTo>
                <a:cubicBezTo>
                  <a:pt x="64730" y="67508"/>
                  <a:pt x="64730" y="59452"/>
                  <a:pt x="59769" y="5449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4445" y="2705943"/>
            <a:ext cx="205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Experience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26445" y="3163143"/>
            <a:ext cx="4445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Prioritizing type safety and productivity. TypeScript adoption signals maturity and reduces technical debt.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1387" y="4707255"/>
            <a:ext cx="7512473" cy="3664373"/>
          </a:xfrm>
          <a:custGeom>
            <a:avLst/>
            <a:gdLst/>
            <a:ahLst/>
            <a:cxnLst/>
            <a:rect l="l" t="t" r="r" b="b"/>
            <a:pathLst>
              <a:path w="7512473" h="3664373">
                <a:moveTo>
                  <a:pt x="152401" y="0"/>
                </a:moveTo>
                <a:lnTo>
                  <a:pt x="7360072" y="0"/>
                </a:lnTo>
                <a:cubicBezTo>
                  <a:pt x="7444241" y="0"/>
                  <a:pt x="7512473" y="68232"/>
                  <a:pt x="7512473" y="152401"/>
                </a:cubicBezTo>
                <a:lnTo>
                  <a:pt x="7512473" y="3511972"/>
                </a:lnTo>
                <a:cubicBezTo>
                  <a:pt x="7512473" y="3596141"/>
                  <a:pt x="7444241" y="3664373"/>
                  <a:pt x="7360072" y="3664373"/>
                </a:cubicBezTo>
                <a:lnTo>
                  <a:pt x="152401" y="3664373"/>
                </a:lnTo>
                <a:cubicBezTo>
                  <a:pt x="68232" y="3664373"/>
                  <a:pt x="0" y="3596141"/>
                  <a:pt x="0" y="3511972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6773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523" y="501544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1586" y="0"/>
                </a:moveTo>
                <a:lnTo>
                  <a:pt x="182711" y="0"/>
                </a:lnTo>
                <a:cubicBezTo>
                  <a:pt x="195858" y="0"/>
                  <a:pt x="206573" y="10815"/>
                  <a:pt x="206077" y="23912"/>
                </a:cubicBezTo>
                <a:cubicBezTo>
                  <a:pt x="205978" y="26541"/>
                  <a:pt x="205879" y="29170"/>
                  <a:pt x="205730" y="31750"/>
                </a:cubicBezTo>
                <a:lnTo>
                  <a:pt x="230336" y="31750"/>
                </a:lnTo>
                <a:cubicBezTo>
                  <a:pt x="243284" y="31750"/>
                  <a:pt x="254695" y="42466"/>
                  <a:pt x="253702" y="56455"/>
                </a:cubicBezTo>
                <a:cubicBezTo>
                  <a:pt x="249982" y="107900"/>
                  <a:pt x="223689" y="136178"/>
                  <a:pt x="195163" y="150961"/>
                </a:cubicBezTo>
                <a:cubicBezTo>
                  <a:pt x="187325" y="155029"/>
                  <a:pt x="179338" y="158055"/>
                  <a:pt x="171748" y="160288"/>
                </a:cubicBezTo>
                <a:cubicBezTo>
                  <a:pt x="161727" y="174476"/>
                  <a:pt x="151309" y="181967"/>
                  <a:pt x="143024" y="185986"/>
                </a:cubicBezTo>
                <a:lnTo>
                  <a:pt x="143024" y="222250"/>
                </a:lnTo>
                <a:lnTo>
                  <a:pt x="174774" y="222250"/>
                </a:lnTo>
                <a:cubicBezTo>
                  <a:pt x="183555" y="222250"/>
                  <a:pt x="190649" y="229344"/>
                  <a:pt x="190649" y="238125"/>
                </a:cubicBezTo>
                <a:cubicBezTo>
                  <a:pt x="190649" y="246906"/>
                  <a:pt x="183555" y="254000"/>
                  <a:pt x="174774" y="254000"/>
                </a:cubicBezTo>
                <a:lnTo>
                  <a:pt x="79524" y="254000"/>
                </a:lnTo>
                <a:cubicBezTo>
                  <a:pt x="70743" y="254000"/>
                  <a:pt x="63649" y="246906"/>
                  <a:pt x="63649" y="238125"/>
                </a:cubicBezTo>
                <a:cubicBezTo>
                  <a:pt x="63649" y="229344"/>
                  <a:pt x="70743" y="222250"/>
                  <a:pt x="79524" y="222250"/>
                </a:cubicBezTo>
                <a:lnTo>
                  <a:pt x="111274" y="222250"/>
                </a:lnTo>
                <a:lnTo>
                  <a:pt x="111274" y="185986"/>
                </a:lnTo>
                <a:cubicBezTo>
                  <a:pt x="103336" y="182166"/>
                  <a:pt x="93464" y="175071"/>
                  <a:pt x="83840" y="162024"/>
                </a:cubicBezTo>
                <a:cubicBezTo>
                  <a:pt x="74712" y="159643"/>
                  <a:pt x="64790" y="156021"/>
                  <a:pt x="55116" y="150564"/>
                </a:cubicBezTo>
                <a:cubicBezTo>
                  <a:pt x="28277" y="135533"/>
                  <a:pt x="4068" y="107206"/>
                  <a:pt x="595" y="56356"/>
                </a:cubicBezTo>
                <a:cubicBezTo>
                  <a:pt x="-347" y="42416"/>
                  <a:pt x="11013" y="31700"/>
                  <a:pt x="23961" y="31700"/>
                </a:cubicBezTo>
                <a:lnTo>
                  <a:pt x="48568" y="31700"/>
                </a:lnTo>
                <a:cubicBezTo>
                  <a:pt x="48419" y="29121"/>
                  <a:pt x="48320" y="26541"/>
                  <a:pt x="48220" y="23862"/>
                </a:cubicBezTo>
                <a:cubicBezTo>
                  <a:pt x="47724" y="10716"/>
                  <a:pt x="58440" y="-50"/>
                  <a:pt x="71586" y="-50"/>
                </a:cubicBezTo>
                <a:close/>
                <a:moveTo>
                  <a:pt x="50354" y="55563"/>
                </a:moveTo>
                <a:lnTo>
                  <a:pt x="24358" y="55563"/>
                </a:lnTo>
                <a:cubicBezTo>
                  <a:pt x="27434" y="97582"/>
                  <a:pt x="46732" y="118616"/>
                  <a:pt x="66625" y="129778"/>
                </a:cubicBezTo>
                <a:cubicBezTo>
                  <a:pt x="59482" y="111274"/>
                  <a:pt x="53578" y="87114"/>
                  <a:pt x="50354" y="55563"/>
                </a:cubicBezTo>
                <a:close/>
                <a:moveTo>
                  <a:pt x="188516" y="127397"/>
                </a:moveTo>
                <a:cubicBezTo>
                  <a:pt x="208607" y="115590"/>
                  <a:pt x="226764" y="94605"/>
                  <a:pt x="229840" y="55563"/>
                </a:cubicBezTo>
                <a:lnTo>
                  <a:pt x="203895" y="55563"/>
                </a:lnTo>
                <a:cubicBezTo>
                  <a:pt x="200819" y="85775"/>
                  <a:pt x="195263" y="109240"/>
                  <a:pt x="188516" y="12739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5" name="Text 23"/>
          <p:cNvSpPr/>
          <p:nvPr/>
        </p:nvSpPr>
        <p:spPr>
          <a:xfrm>
            <a:off x="1086273" y="4964640"/>
            <a:ext cx="680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Advantages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8773" y="547264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22748" y="5599640"/>
            <a:ext cx="63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30773" y="549804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Time-to-Market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30773" y="580284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modern technology stacks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8773" y="623464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19256" y="6361640"/>
            <a:ext cx="63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30773" y="6260040"/>
            <a:ext cx="248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 Infrastructure Costs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30773" y="6564840"/>
            <a:ext cx="247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 cloud-native adoption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8773" y="699664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14823" y="717444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6" name="Text 34"/>
          <p:cNvSpPr/>
          <p:nvPr/>
        </p:nvSpPr>
        <p:spPr>
          <a:xfrm>
            <a:off x="1530773" y="7022040"/>
            <a:ext cx="265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Talent Retention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530773" y="7326840"/>
            <a:ext cx="264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using in-demand technologies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32987" y="4707255"/>
            <a:ext cx="7512473" cy="3664373"/>
          </a:xfrm>
          <a:custGeom>
            <a:avLst/>
            <a:gdLst/>
            <a:ahLst/>
            <a:cxnLst/>
            <a:rect l="l" t="t" r="r" b="b"/>
            <a:pathLst>
              <a:path w="7512473" h="3664373">
                <a:moveTo>
                  <a:pt x="152401" y="0"/>
                </a:moveTo>
                <a:lnTo>
                  <a:pt x="7360072" y="0"/>
                </a:lnTo>
                <a:cubicBezTo>
                  <a:pt x="7444241" y="0"/>
                  <a:pt x="7512473" y="68232"/>
                  <a:pt x="7512473" y="152401"/>
                </a:cubicBezTo>
                <a:lnTo>
                  <a:pt x="7512473" y="3511972"/>
                </a:lnTo>
                <a:cubicBezTo>
                  <a:pt x="7512473" y="3596141"/>
                  <a:pt x="7444241" y="3664373"/>
                  <a:pt x="7360072" y="3664373"/>
                </a:cubicBezTo>
                <a:lnTo>
                  <a:pt x="152401" y="3664373"/>
                </a:lnTo>
                <a:cubicBezTo>
                  <a:pt x="68232" y="3664373"/>
                  <a:pt x="0" y="3596141"/>
                  <a:pt x="0" y="3511972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53874" y="501544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0" name="Text 38"/>
          <p:cNvSpPr/>
          <p:nvPr/>
        </p:nvSpPr>
        <p:spPr>
          <a:xfrm>
            <a:off x="8807874" y="4964640"/>
            <a:ext cx="680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Solving Real Problems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00534" y="5472640"/>
            <a:ext cx="6982460" cy="812800"/>
          </a:xfrm>
          <a:custGeom>
            <a:avLst/>
            <a:gdLst/>
            <a:ahLst/>
            <a:cxnLst/>
            <a:rect l="l" t="t" r="r" b="b"/>
            <a:pathLst>
              <a:path w="6982460" h="812800">
                <a:moveTo>
                  <a:pt x="20320" y="0"/>
                </a:moveTo>
                <a:lnTo>
                  <a:pt x="6880860" y="0"/>
                </a:lnTo>
                <a:cubicBezTo>
                  <a:pt x="6936935" y="0"/>
                  <a:pt x="6982460" y="45525"/>
                  <a:pt x="6982460" y="101600"/>
                </a:cubicBezTo>
                <a:lnTo>
                  <a:pt x="6982460" y="711200"/>
                </a:lnTo>
                <a:cubicBezTo>
                  <a:pt x="6982460" y="767275"/>
                  <a:pt x="6936935" y="812800"/>
                  <a:pt x="6880860" y="812800"/>
                </a:cubicBezTo>
                <a:lnTo>
                  <a:pt x="20320" y="812800"/>
                </a:lnTo>
                <a:cubicBezTo>
                  <a:pt x="9098" y="812800"/>
                  <a:pt x="0" y="803702"/>
                  <a:pt x="0" y="792480"/>
                </a:cubicBezTo>
                <a:lnTo>
                  <a:pt x="0" y="20320"/>
                </a:lnTo>
                <a:cubicBezTo>
                  <a:pt x="0" y="9105"/>
                  <a:pt x="9105" y="0"/>
                  <a:pt x="2032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500534" y="5472640"/>
            <a:ext cx="20320" cy="812800"/>
          </a:xfrm>
          <a:custGeom>
            <a:avLst/>
            <a:gdLst/>
            <a:ahLst/>
            <a:cxnLst/>
            <a:rect l="l" t="t" r="r" b="b"/>
            <a:pathLst>
              <a:path w="20320" h="812800">
                <a:moveTo>
                  <a:pt x="20320" y="0"/>
                </a:moveTo>
                <a:lnTo>
                  <a:pt x="20320" y="0"/>
                </a:lnTo>
                <a:lnTo>
                  <a:pt x="20320" y="812800"/>
                </a:lnTo>
                <a:lnTo>
                  <a:pt x="20320" y="812800"/>
                </a:lnTo>
                <a:cubicBezTo>
                  <a:pt x="9098" y="812800"/>
                  <a:pt x="0" y="803702"/>
                  <a:pt x="0" y="792480"/>
                </a:cubicBezTo>
                <a:lnTo>
                  <a:pt x="0" y="20320"/>
                </a:lnTo>
                <a:cubicBezTo>
                  <a:pt x="0" y="9105"/>
                  <a:pt x="9105" y="0"/>
                  <a:pt x="2032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3" name="Text 41"/>
          <p:cNvSpPr/>
          <p:nvPr/>
        </p:nvSpPr>
        <p:spPr>
          <a:xfrm>
            <a:off x="8663094" y="5625040"/>
            <a:ext cx="675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Reducing Technical Debt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63094" y="5929840"/>
            <a:ext cx="6743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TypeScript and modern languages prevent bugs early, reducing maintenance costs by up to 50%.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00534" y="6387040"/>
            <a:ext cx="6982460" cy="812800"/>
          </a:xfrm>
          <a:custGeom>
            <a:avLst/>
            <a:gdLst/>
            <a:ahLst/>
            <a:cxnLst/>
            <a:rect l="l" t="t" r="r" b="b"/>
            <a:pathLst>
              <a:path w="6982460" h="812800">
                <a:moveTo>
                  <a:pt x="20320" y="0"/>
                </a:moveTo>
                <a:lnTo>
                  <a:pt x="6880860" y="0"/>
                </a:lnTo>
                <a:cubicBezTo>
                  <a:pt x="6936935" y="0"/>
                  <a:pt x="6982460" y="45525"/>
                  <a:pt x="6982460" y="101600"/>
                </a:cubicBezTo>
                <a:lnTo>
                  <a:pt x="6982460" y="711200"/>
                </a:lnTo>
                <a:cubicBezTo>
                  <a:pt x="6982460" y="767275"/>
                  <a:pt x="6936935" y="812800"/>
                  <a:pt x="6880860" y="812800"/>
                </a:cubicBezTo>
                <a:lnTo>
                  <a:pt x="20320" y="812800"/>
                </a:lnTo>
                <a:cubicBezTo>
                  <a:pt x="9098" y="812800"/>
                  <a:pt x="0" y="803702"/>
                  <a:pt x="0" y="792480"/>
                </a:cubicBezTo>
                <a:lnTo>
                  <a:pt x="0" y="20320"/>
                </a:lnTo>
                <a:cubicBezTo>
                  <a:pt x="0" y="9105"/>
                  <a:pt x="9105" y="0"/>
                  <a:pt x="2032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500534" y="6387040"/>
            <a:ext cx="20320" cy="812800"/>
          </a:xfrm>
          <a:custGeom>
            <a:avLst/>
            <a:gdLst/>
            <a:ahLst/>
            <a:cxnLst/>
            <a:rect l="l" t="t" r="r" b="b"/>
            <a:pathLst>
              <a:path w="20320" h="812800">
                <a:moveTo>
                  <a:pt x="20320" y="0"/>
                </a:moveTo>
                <a:lnTo>
                  <a:pt x="20320" y="0"/>
                </a:lnTo>
                <a:lnTo>
                  <a:pt x="20320" y="812800"/>
                </a:lnTo>
                <a:lnTo>
                  <a:pt x="20320" y="812800"/>
                </a:lnTo>
                <a:cubicBezTo>
                  <a:pt x="9098" y="812800"/>
                  <a:pt x="0" y="803702"/>
                  <a:pt x="0" y="792480"/>
                </a:cubicBezTo>
                <a:lnTo>
                  <a:pt x="0" y="20320"/>
                </a:lnTo>
                <a:cubicBezTo>
                  <a:pt x="0" y="9105"/>
                  <a:pt x="9105" y="0"/>
                  <a:pt x="2032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7" name="Text 45"/>
          <p:cNvSpPr/>
          <p:nvPr/>
        </p:nvSpPr>
        <p:spPr>
          <a:xfrm>
            <a:off x="8663094" y="6539440"/>
            <a:ext cx="675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Optimizing Cloud Spend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63094" y="6844240"/>
            <a:ext cx="6743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and cloud-native databases eliminate expensive licensing while improving performance.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500534" y="7301440"/>
            <a:ext cx="6982460" cy="812800"/>
          </a:xfrm>
          <a:custGeom>
            <a:avLst/>
            <a:gdLst/>
            <a:ahLst/>
            <a:cxnLst/>
            <a:rect l="l" t="t" r="r" b="b"/>
            <a:pathLst>
              <a:path w="6982460" h="812800">
                <a:moveTo>
                  <a:pt x="20320" y="0"/>
                </a:moveTo>
                <a:lnTo>
                  <a:pt x="6880860" y="0"/>
                </a:lnTo>
                <a:cubicBezTo>
                  <a:pt x="6936935" y="0"/>
                  <a:pt x="6982460" y="45525"/>
                  <a:pt x="6982460" y="101600"/>
                </a:cubicBezTo>
                <a:lnTo>
                  <a:pt x="6982460" y="711200"/>
                </a:lnTo>
                <a:cubicBezTo>
                  <a:pt x="6982460" y="767275"/>
                  <a:pt x="6936935" y="812800"/>
                  <a:pt x="6880860" y="812800"/>
                </a:cubicBezTo>
                <a:lnTo>
                  <a:pt x="20320" y="812800"/>
                </a:lnTo>
                <a:cubicBezTo>
                  <a:pt x="9098" y="812800"/>
                  <a:pt x="0" y="803702"/>
                  <a:pt x="0" y="792480"/>
                </a:cubicBezTo>
                <a:lnTo>
                  <a:pt x="0" y="20320"/>
                </a:lnTo>
                <a:cubicBezTo>
                  <a:pt x="0" y="9105"/>
                  <a:pt x="9105" y="0"/>
                  <a:pt x="2032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500534" y="7301440"/>
            <a:ext cx="20320" cy="812800"/>
          </a:xfrm>
          <a:custGeom>
            <a:avLst/>
            <a:gdLst/>
            <a:ahLst/>
            <a:cxnLst/>
            <a:rect l="l" t="t" r="r" b="b"/>
            <a:pathLst>
              <a:path w="20320" h="812800">
                <a:moveTo>
                  <a:pt x="20320" y="0"/>
                </a:moveTo>
                <a:lnTo>
                  <a:pt x="20320" y="0"/>
                </a:lnTo>
                <a:lnTo>
                  <a:pt x="20320" y="812800"/>
                </a:lnTo>
                <a:lnTo>
                  <a:pt x="20320" y="812800"/>
                </a:lnTo>
                <a:cubicBezTo>
                  <a:pt x="9098" y="812800"/>
                  <a:pt x="0" y="803702"/>
                  <a:pt x="0" y="792480"/>
                </a:cubicBezTo>
                <a:lnTo>
                  <a:pt x="0" y="20320"/>
                </a:lnTo>
                <a:cubicBezTo>
                  <a:pt x="0" y="9105"/>
                  <a:pt x="9105" y="0"/>
                  <a:pt x="2032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1" name="Text 49"/>
          <p:cNvSpPr/>
          <p:nvPr/>
        </p:nvSpPr>
        <p:spPr>
          <a:xfrm>
            <a:off x="8663094" y="7453840"/>
            <a:ext cx="675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Competitive Advantage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63094" y="7758640"/>
            <a:ext cx="6743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AI-ready Python talent and modern infrastructure enable faster innovation cycles.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11387" y="8581598"/>
            <a:ext cx="15234073" cy="616373"/>
          </a:xfrm>
          <a:custGeom>
            <a:avLst/>
            <a:gdLst/>
            <a:ahLst/>
            <a:cxnLst/>
            <a:rect l="l" t="t" r="r" b="b"/>
            <a:pathLst>
              <a:path w="15234073" h="616373">
                <a:moveTo>
                  <a:pt x="101603" y="0"/>
                </a:moveTo>
                <a:lnTo>
                  <a:pt x="15132470" y="0"/>
                </a:lnTo>
                <a:cubicBezTo>
                  <a:pt x="15188584" y="0"/>
                  <a:pt x="15234073" y="45489"/>
                  <a:pt x="15234073" y="101603"/>
                </a:cubicBezTo>
                <a:lnTo>
                  <a:pt x="15234073" y="514770"/>
                </a:lnTo>
                <a:cubicBezTo>
                  <a:pt x="15234073" y="570884"/>
                  <a:pt x="15188584" y="616373"/>
                  <a:pt x="15132470" y="616373"/>
                </a:cubicBezTo>
                <a:lnTo>
                  <a:pt x="101603" y="616373"/>
                </a:lnTo>
                <a:cubicBezTo>
                  <a:pt x="45489" y="616373"/>
                  <a:pt x="0" y="570884"/>
                  <a:pt x="0" y="514770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6773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4798" y="8762789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0" y="107156"/>
                </a:moveTo>
                <a:cubicBezTo>
                  <a:pt x="0" y="74265"/>
                  <a:pt x="26640" y="47625"/>
                  <a:pt x="59531" y="47625"/>
                </a:cubicBezTo>
                <a:lnTo>
                  <a:pt x="63500" y="47625"/>
                </a:lnTo>
                <a:cubicBezTo>
                  <a:pt x="72281" y="47625"/>
                  <a:pt x="79375" y="54719"/>
                  <a:pt x="79375" y="63500"/>
                </a:cubicBezTo>
                <a:cubicBezTo>
                  <a:pt x="79375" y="72281"/>
                  <a:pt x="72281" y="79375"/>
                  <a:pt x="63500" y="79375"/>
                </a:cubicBezTo>
                <a:lnTo>
                  <a:pt x="59531" y="79375"/>
                </a:lnTo>
                <a:cubicBezTo>
                  <a:pt x="44202" y="79375"/>
                  <a:pt x="31750" y="91827"/>
                  <a:pt x="31750" y="107156"/>
                </a:cubicBezTo>
                <a:lnTo>
                  <a:pt x="31750" y="111125"/>
                </a:lnTo>
                <a:lnTo>
                  <a:pt x="63500" y="111125"/>
                </a:lnTo>
                <a:cubicBezTo>
                  <a:pt x="81012" y="111125"/>
                  <a:pt x="95250" y="125363"/>
                  <a:pt x="95250" y="142875"/>
                </a:cubicBezTo>
                <a:lnTo>
                  <a:pt x="95250" y="174625"/>
                </a:lnTo>
                <a:cubicBezTo>
                  <a:pt x="95250" y="192137"/>
                  <a:pt x="81012" y="206375"/>
                  <a:pt x="63500" y="206375"/>
                </a:cubicBezTo>
                <a:lnTo>
                  <a:pt x="31750" y="206375"/>
                </a:lnTo>
                <a:cubicBezTo>
                  <a:pt x="14238" y="206375"/>
                  <a:pt x="0" y="192137"/>
                  <a:pt x="0" y="174625"/>
                </a:cubicBezTo>
                <a:lnTo>
                  <a:pt x="0" y="107156"/>
                </a:lnTo>
                <a:close/>
                <a:moveTo>
                  <a:pt x="127000" y="107156"/>
                </a:moveTo>
                <a:cubicBezTo>
                  <a:pt x="127000" y="74265"/>
                  <a:pt x="153640" y="47625"/>
                  <a:pt x="186531" y="47625"/>
                </a:cubicBezTo>
                <a:lnTo>
                  <a:pt x="190500" y="47625"/>
                </a:lnTo>
                <a:cubicBezTo>
                  <a:pt x="199281" y="47625"/>
                  <a:pt x="206375" y="54719"/>
                  <a:pt x="206375" y="63500"/>
                </a:cubicBezTo>
                <a:cubicBezTo>
                  <a:pt x="206375" y="72281"/>
                  <a:pt x="199281" y="79375"/>
                  <a:pt x="190500" y="79375"/>
                </a:cubicBezTo>
                <a:lnTo>
                  <a:pt x="186531" y="79375"/>
                </a:lnTo>
                <a:cubicBezTo>
                  <a:pt x="171202" y="79375"/>
                  <a:pt x="158750" y="91827"/>
                  <a:pt x="158750" y="107156"/>
                </a:cubicBezTo>
                <a:lnTo>
                  <a:pt x="158750" y="111125"/>
                </a:lnTo>
                <a:lnTo>
                  <a:pt x="190500" y="111125"/>
                </a:lnTo>
                <a:cubicBezTo>
                  <a:pt x="208012" y="111125"/>
                  <a:pt x="222250" y="125363"/>
                  <a:pt x="222250" y="142875"/>
                </a:cubicBezTo>
                <a:lnTo>
                  <a:pt x="222250" y="174625"/>
                </a:lnTo>
                <a:cubicBezTo>
                  <a:pt x="222250" y="192137"/>
                  <a:pt x="208012" y="206375"/>
                  <a:pt x="190500" y="206375"/>
                </a:cubicBezTo>
                <a:lnTo>
                  <a:pt x="158750" y="206375"/>
                </a:lnTo>
                <a:cubicBezTo>
                  <a:pt x="141238" y="206375"/>
                  <a:pt x="127000" y="192137"/>
                  <a:pt x="127000" y="174625"/>
                </a:cubicBezTo>
                <a:lnTo>
                  <a:pt x="127000" y="107156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5" name="Text 53"/>
          <p:cNvSpPr/>
          <p:nvPr/>
        </p:nvSpPr>
        <p:spPr>
          <a:xfrm>
            <a:off x="1137073" y="8737389"/>
            <a:ext cx="1398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"This analysis provides the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foundation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strategic technology decisions that solve real business problems and create sustainable competitive advantage."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9c155a429f133d30b43b441515c81fb7dec7a4fa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80" r="180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4A5C6A">
                  <a:alpha val="90000"/>
                </a:srgbClr>
              </a:gs>
              <a:gs pos="100000">
                <a:srgbClr val="1A1D24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508000"/>
            <a:ext cx="523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Next Steps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1200" y="1117600"/>
            <a:ext cx="151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takeaways for immediate implementation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1387" y="1679787"/>
            <a:ext cx="4934373" cy="2597573"/>
          </a:xfrm>
          <a:custGeom>
            <a:avLst/>
            <a:gdLst/>
            <a:ahLst/>
            <a:cxnLst/>
            <a:rect l="l" t="t" r="r" b="b"/>
            <a:pathLst>
              <a:path w="4934373" h="2597573">
                <a:moveTo>
                  <a:pt x="152400" y="0"/>
                </a:moveTo>
                <a:lnTo>
                  <a:pt x="4781974" y="0"/>
                </a:lnTo>
                <a:cubicBezTo>
                  <a:pt x="4866142" y="0"/>
                  <a:pt x="4934373" y="68232"/>
                  <a:pt x="4934373" y="152400"/>
                </a:cubicBezTo>
                <a:lnTo>
                  <a:pt x="4934373" y="2445174"/>
                </a:lnTo>
                <a:cubicBezTo>
                  <a:pt x="4934373" y="2529342"/>
                  <a:pt x="4866142" y="2597573"/>
                  <a:pt x="4781974" y="2597573"/>
                </a:cubicBezTo>
                <a:lnTo>
                  <a:pt x="152400" y="2597573"/>
                </a:lnTo>
                <a:cubicBezTo>
                  <a:pt x="68232" y="2597573"/>
                  <a:pt x="0" y="2529342"/>
                  <a:pt x="0" y="2445174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30000"/>
                </a:srgbClr>
              </a:gs>
              <a:gs pos="100000">
                <a:srgbClr val="E07A5F">
                  <a:alpha val="10000"/>
                </a:srgbClr>
              </a:gs>
            </a:gsLst>
            <a:lin ang="2700000" scaled="1"/>
          </a:gradFill>
          <a:ln w="6773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773" y="193717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9" name="Text 6"/>
          <p:cNvSpPr/>
          <p:nvPr/>
        </p:nvSpPr>
        <p:spPr>
          <a:xfrm>
            <a:off x="950807" y="2064172"/>
            <a:ext cx="36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30773" y="2064172"/>
            <a:ext cx="256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&amp; PostgreSQL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8773" y="2699172"/>
            <a:ext cx="45212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no longer emerging choices—they are the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established foundation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modern technology stacks. Delaying adoption increases competitive risk.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59120" y="1679787"/>
            <a:ext cx="4934373" cy="2597573"/>
          </a:xfrm>
          <a:custGeom>
            <a:avLst/>
            <a:gdLst/>
            <a:ahLst/>
            <a:cxnLst/>
            <a:rect l="l" t="t" r="r" b="b"/>
            <a:pathLst>
              <a:path w="4934373" h="2597573">
                <a:moveTo>
                  <a:pt x="152400" y="0"/>
                </a:moveTo>
                <a:lnTo>
                  <a:pt x="4781974" y="0"/>
                </a:lnTo>
                <a:cubicBezTo>
                  <a:pt x="4866142" y="0"/>
                  <a:pt x="4934373" y="68232"/>
                  <a:pt x="4934373" y="152400"/>
                </a:cubicBezTo>
                <a:lnTo>
                  <a:pt x="4934373" y="2445174"/>
                </a:lnTo>
                <a:cubicBezTo>
                  <a:pt x="4934373" y="2529342"/>
                  <a:pt x="4866142" y="2597573"/>
                  <a:pt x="4781974" y="2597573"/>
                </a:cubicBezTo>
                <a:lnTo>
                  <a:pt x="152400" y="2597573"/>
                </a:lnTo>
                <a:cubicBezTo>
                  <a:pt x="68232" y="2597573"/>
                  <a:pt x="0" y="2529342"/>
                  <a:pt x="0" y="2445174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6773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16507" y="193717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4" name="Text 11"/>
          <p:cNvSpPr/>
          <p:nvPr/>
        </p:nvSpPr>
        <p:spPr>
          <a:xfrm>
            <a:off x="6074199" y="2064172"/>
            <a:ext cx="41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78507" y="2064172"/>
            <a:ext cx="270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Cloud-Native Adoption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16507" y="2699172"/>
            <a:ext cx="4521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accelerating with 49%+ growth.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 in modernization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increases competitive risk as rivals leverage auto-scaling and AI integration.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806854" y="1679787"/>
            <a:ext cx="4934373" cy="2597573"/>
          </a:xfrm>
          <a:custGeom>
            <a:avLst/>
            <a:gdLst/>
            <a:ahLst/>
            <a:cxnLst/>
            <a:rect l="l" t="t" r="r" b="b"/>
            <a:pathLst>
              <a:path w="4934373" h="2597573">
                <a:moveTo>
                  <a:pt x="152400" y="0"/>
                </a:moveTo>
                <a:lnTo>
                  <a:pt x="4781974" y="0"/>
                </a:lnTo>
                <a:cubicBezTo>
                  <a:pt x="4866142" y="0"/>
                  <a:pt x="4934373" y="68232"/>
                  <a:pt x="4934373" y="152400"/>
                </a:cubicBezTo>
                <a:lnTo>
                  <a:pt x="4934373" y="2445174"/>
                </a:lnTo>
                <a:cubicBezTo>
                  <a:pt x="4934373" y="2529342"/>
                  <a:pt x="4866142" y="2597573"/>
                  <a:pt x="4781974" y="2597573"/>
                </a:cubicBezTo>
                <a:lnTo>
                  <a:pt x="152400" y="2597573"/>
                </a:lnTo>
                <a:cubicBezTo>
                  <a:pt x="68232" y="2597573"/>
                  <a:pt x="0" y="2529342"/>
                  <a:pt x="0" y="2445174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30000"/>
                </a:srgbClr>
              </a:gs>
              <a:gs pos="100000">
                <a:srgbClr val="E07A5F">
                  <a:alpha val="10000"/>
                </a:srgbClr>
              </a:gs>
            </a:gsLst>
            <a:lin ang="2700000" scaled="1"/>
          </a:gradFill>
          <a:ln w="6773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064241" y="193717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Text 16"/>
          <p:cNvSpPr/>
          <p:nvPr/>
        </p:nvSpPr>
        <p:spPr>
          <a:xfrm>
            <a:off x="11218652" y="2064172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26241" y="2064172"/>
            <a:ext cx="24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TypeScript Adoption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064241" y="2699172"/>
            <a:ext cx="4521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a leading indicator of development maturity.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 now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long-term maintainability and reduced technical debt.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11387" y="4487330"/>
            <a:ext cx="15234073" cy="2457873"/>
          </a:xfrm>
          <a:custGeom>
            <a:avLst/>
            <a:gdLst/>
            <a:ahLst/>
            <a:cxnLst/>
            <a:rect l="l" t="t" r="r" b="b"/>
            <a:pathLst>
              <a:path w="15234073" h="2457873">
                <a:moveTo>
                  <a:pt x="152388" y="0"/>
                </a:moveTo>
                <a:lnTo>
                  <a:pt x="15081685" y="0"/>
                </a:lnTo>
                <a:cubicBezTo>
                  <a:pt x="15165847" y="0"/>
                  <a:pt x="15234073" y="68226"/>
                  <a:pt x="15234073" y="152388"/>
                </a:cubicBezTo>
                <a:lnTo>
                  <a:pt x="15234073" y="2305485"/>
                </a:lnTo>
                <a:cubicBezTo>
                  <a:pt x="15234073" y="2389647"/>
                  <a:pt x="15165847" y="2457873"/>
                  <a:pt x="15081685" y="2457873"/>
                </a:cubicBezTo>
                <a:lnTo>
                  <a:pt x="152388" y="2457873"/>
                </a:lnTo>
                <a:cubicBezTo>
                  <a:pt x="68226" y="2457873"/>
                  <a:pt x="0" y="2389647"/>
                  <a:pt x="0" y="2305485"/>
                </a:cubicBezTo>
                <a:lnTo>
                  <a:pt x="0" y="152388"/>
                </a:lnTo>
                <a:cubicBezTo>
                  <a:pt x="0" y="68283"/>
                  <a:pt x="68283" y="0"/>
                  <a:pt x="15238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 w="6773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6873" y="479552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9653" y="21610"/>
                </a:moveTo>
                <a:cubicBezTo>
                  <a:pt x="86142" y="26134"/>
                  <a:pt x="87690" y="35064"/>
                  <a:pt x="83165" y="41493"/>
                </a:cubicBezTo>
                <a:lnTo>
                  <a:pt x="49828" y="89118"/>
                </a:lnTo>
                <a:cubicBezTo>
                  <a:pt x="47387" y="92571"/>
                  <a:pt x="43577" y="94774"/>
                  <a:pt x="39350" y="95131"/>
                </a:cubicBezTo>
                <a:cubicBezTo>
                  <a:pt x="35123" y="95488"/>
                  <a:pt x="30956" y="94059"/>
                  <a:pt x="27980" y="91083"/>
                </a:cubicBezTo>
                <a:lnTo>
                  <a:pt x="4167" y="67270"/>
                </a:lnTo>
                <a:cubicBezTo>
                  <a:pt x="-1369" y="61674"/>
                  <a:pt x="-1369" y="52626"/>
                  <a:pt x="4167" y="47030"/>
                </a:cubicBezTo>
                <a:cubicBezTo>
                  <a:pt x="9704" y="41434"/>
                  <a:pt x="18812" y="41493"/>
                  <a:pt x="24408" y="47030"/>
                </a:cubicBezTo>
                <a:lnTo>
                  <a:pt x="36195" y="58817"/>
                </a:lnTo>
                <a:lnTo>
                  <a:pt x="59769" y="25122"/>
                </a:lnTo>
                <a:cubicBezTo>
                  <a:pt x="64294" y="18633"/>
                  <a:pt x="73223" y="17085"/>
                  <a:pt x="79653" y="21610"/>
                </a:cubicBezTo>
                <a:close/>
                <a:moveTo>
                  <a:pt x="79653" y="116860"/>
                </a:moveTo>
                <a:cubicBezTo>
                  <a:pt x="86142" y="121384"/>
                  <a:pt x="87690" y="130314"/>
                  <a:pt x="83165" y="136743"/>
                </a:cubicBezTo>
                <a:lnTo>
                  <a:pt x="49828" y="184368"/>
                </a:lnTo>
                <a:cubicBezTo>
                  <a:pt x="47387" y="187821"/>
                  <a:pt x="43577" y="190024"/>
                  <a:pt x="39350" y="190381"/>
                </a:cubicBezTo>
                <a:cubicBezTo>
                  <a:pt x="35123" y="190738"/>
                  <a:pt x="30956" y="189309"/>
                  <a:pt x="27980" y="186333"/>
                </a:cubicBezTo>
                <a:lnTo>
                  <a:pt x="4167" y="162520"/>
                </a:lnTo>
                <a:cubicBezTo>
                  <a:pt x="-1429" y="156924"/>
                  <a:pt x="-1429" y="147876"/>
                  <a:pt x="4167" y="142339"/>
                </a:cubicBezTo>
                <a:cubicBezTo>
                  <a:pt x="9763" y="136803"/>
                  <a:pt x="18812" y="136743"/>
                  <a:pt x="24348" y="142339"/>
                </a:cubicBezTo>
                <a:lnTo>
                  <a:pt x="36135" y="154126"/>
                </a:lnTo>
                <a:lnTo>
                  <a:pt x="59710" y="120432"/>
                </a:lnTo>
                <a:cubicBezTo>
                  <a:pt x="64234" y="113943"/>
                  <a:pt x="73164" y="112395"/>
                  <a:pt x="79593" y="116919"/>
                </a:cubicBezTo>
                <a:close/>
                <a:moveTo>
                  <a:pt x="133350" y="57150"/>
                </a:moveTo>
                <a:cubicBezTo>
                  <a:pt x="133350" y="46613"/>
                  <a:pt x="141863" y="38100"/>
                  <a:pt x="152400" y="38100"/>
                </a:cubicBezTo>
                <a:lnTo>
                  <a:pt x="285750" y="38100"/>
                </a:lnTo>
                <a:cubicBezTo>
                  <a:pt x="296287" y="38100"/>
                  <a:pt x="304800" y="46613"/>
                  <a:pt x="304800" y="57150"/>
                </a:cubicBezTo>
                <a:cubicBezTo>
                  <a:pt x="304800" y="67687"/>
                  <a:pt x="296287" y="76200"/>
                  <a:pt x="285750" y="76200"/>
                </a:cubicBezTo>
                <a:lnTo>
                  <a:pt x="152400" y="76200"/>
                </a:lnTo>
                <a:cubicBezTo>
                  <a:pt x="141863" y="76200"/>
                  <a:pt x="133350" y="67687"/>
                  <a:pt x="133350" y="57150"/>
                </a:cubicBezTo>
                <a:close/>
                <a:moveTo>
                  <a:pt x="133350" y="152400"/>
                </a:moveTo>
                <a:cubicBezTo>
                  <a:pt x="133350" y="141863"/>
                  <a:pt x="141863" y="133350"/>
                  <a:pt x="152400" y="133350"/>
                </a:cubicBez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152400" y="171450"/>
                </a:lnTo>
                <a:cubicBezTo>
                  <a:pt x="141863" y="171450"/>
                  <a:pt x="133350" y="162937"/>
                  <a:pt x="133350" y="152400"/>
                </a:cubicBezTo>
                <a:close/>
                <a:moveTo>
                  <a:pt x="95250" y="247650"/>
                </a:moveTo>
                <a:cubicBezTo>
                  <a:pt x="95250" y="237113"/>
                  <a:pt x="103763" y="228600"/>
                  <a:pt x="114300" y="228600"/>
                </a:cubicBez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14300" y="266700"/>
                </a:lnTo>
                <a:cubicBezTo>
                  <a:pt x="103763" y="266700"/>
                  <a:pt x="95250" y="258187"/>
                  <a:pt x="95250" y="247650"/>
                </a:cubicBezTo>
                <a:close/>
                <a:moveTo>
                  <a:pt x="38100" y="223838"/>
                </a:moveTo>
                <a:cubicBezTo>
                  <a:pt x="51242" y="223838"/>
                  <a:pt x="61912" y="234508"/>
                  <a:pt x="61912" y="247650"/>
                </a:cubicBezTo>
                <a:cubicBezTo>
                  <a:pt x="61912" y="260792"/>
                  <a:pt x="51242" y="271463"/>
                  <a:pt x="38100" y="271463"/>
                </a:cubicBezTo>
                <a:cubicBezTo>
                  <a:pt x="24958" y="271463"/>
                  <a:pt x="14288" y="260792"/>
                  <a:pt x="14288" y="247650"/>
                </a:cubicBezTo>
                <a:cubicBezTo>
                  <a:pt x="14288" y="234508"/>
                  <a:pt x="24958" y="223838"/>
                  <a:pt x="38100" y="22383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4" name="Text 21"/>
          <p:cNvSpPr/>
          <p:nvPr/>
        </p:nvSpPr>
        <p:spPr>
          <a:xfrm>
            <a:off x="1149773" y="4744721"/>
            <a:ext cx="1449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Next Steps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72160" y="5357708"/>
            <a:ext cx="3524673" cy="1327573"/>
          </a:xfrm>
          <a:custGeom>
            <a:avLst/>
            <a:gdLst/>
            <a:ahLst/>
            <a:cxnLst/>
            <a:rect l="l" t="t" r="r" b="b"/>
            <a:pathLst>
              <a:path w="3524673" h="1327573">
                <a:moveTo>
                  <a:pt x="101599" y="0"/>
                </a:moveTo>
                <a:lnTo>
                  <a:pt x="3423074" y="0"/>
                </a:lnTo>
                <a:cubicBezTo>
                  <a:pt x="3479186" y="0"/>
                  <a:pt x="3524673" y="45488"/>
                  <a:pt x="3524673" y="101599"/>
                </a:cubicBezTo>
                <a:lnTo>
                  <a:pt x="3524673" y="1225974"/>
                </a:lnTo>
                <a:cubicBezTo>
                  <a:pt x="3524673" y="1282086"/>
                  <a:pt x="3479186" y="1327573"/>
                  <a:pt x="3423074" y="1327573"/>
                </a:cubicBezTo>
                <a:lnTo>
                  <a:pt x="101599" y="1327573"/>
                </a:lnTo>
                <a:cubicBezTo>
                  <a:pt x="45488" y="1327573"/>
                  <a:pt x="0" y="1282086"/>
                  <a:pt x="0" y="1225974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04147" y="561509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65100" y="82550"/>
                </a:moveTo>
                <a:cubicBezTo>
                  <a:pt x="165100" y="100767"/>
                  <a:pt x="159187" y="117594"/>
                  <a:pt x="149225" y="131247"/>
                </a:cubicBezTo>
                <a:lnTo>
                  <a:pt x="199469" y="181531"/>
                </a:lnTo>
                <a:cubicBezTo>
                  <a:pt x="204430" y="186492"/>
                  <a:pt x="204430" y="194548"/>
                  <a:pt x="199469" y="199509"/>
                </a:cubicBezTo>
                <a:cubicBezTo>
                  <a:pt x="194508" y="204470"/>
                  <a:pt x="186452" y="204470"/>
                  <a:pt x="181491" y="199509"/>
                </a:cubicBezTo>
                <a:lnTo>
                  <a:pt x="131247" y="149225"/>
                </a:lnTo>
                <a:cubicBezTo>
                  <a:pt x="117594" y="159187"/>
                  <a:pt x="100767" y="165100"/>
                  <a:pt x="82550" y="165100"/>
                </a:cubicBezTo>
                <a:cubicBezTo>
                  <a:pt x="36949" y="165100"/>
                  <a:pt x="0" y="128151"/>
                  <a:pt x="0" y="82550"/>
                </a:cubicBezTo>
                <a:cubicBezTo>
                  <a:pt x="0" y="36949"/>
                  <a:pt x="36949" y="0"/>
                  <a:pt x="82550" y="0"/>
                </a:cubicBezTo>
                <a:cubicBezTo>
                  <a:pt x="128151" y="0"/>
                  <a:pt x="165100" y="36949"/>
                  <a:pt x="165100" y="82550"/>
                </a:cubicBezTo>
                <a:close/>
                <a:moveTo>
                  <a:pt x="82550" y="139700"/>
                </a:moveTo>
                <a:cubicBezTo>
                  <a:pt x="114092" y="139700"/>
                  <a:pt x="139700" y="114092"/>
                  <a:pt x="139700" y="82550"/>
                </a:cubicBezTo>
                <a:cubicBezTo>
                  <a:pt x="139700" y="51008"/>
                  <a:pt x="114092" y="25400"/>
                  <a:pt x="82550" y="25400"/>
                </a:cubicBezTo>
                <a:cubicBezTo>
                  <a:pt x="51008" y="25400"/>
                  <a:pt x="25400" y="51008"/>
                  <a:pt x="25400" y="82550"/>
                </a:cubicBezTo>
                <a:cubicBezTo>
                  <a:pt x="25400" y="114092"/>
                  <a:pt x="51008" y="139700"/>
                  <a:pt x="82550" y="1397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7" name="Text 24"/>
          <p:cNvSpPr/>
          <p:nvPr/>
        </p:nvSpPr>
        <p:spPr>
          <a:xfrm>
            <a:off x="1334347" y="5564293"/>
            <a:ext cx="74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78747" y="5970693"/>
            <a:ext cx="320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Conduct skills gap assessment across engineering teams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502574" y="5357708"/>
            <a:ext cx="3524673" cy="1327573"/>
          </a:xfrm>
          <a:custGeom>
            <a:avLst/>
            <a:gdLst/>
            <a:ahLst/>
            <a:cxnLst/>
            <a:rect l="l" t="t" r="r" b="b"/>
            <a:pathLst>
              <a:path w="3524673" h="1327573">
                <a:moveTo>
                  <a:pt x="101599" y="0"/>
                </a:moveTo>
                <a:lnTo>
                  <a:pt x="3423074" y="0"/>
                </a:lnTo>
                <a:cubicBezTo>
                  <a:pt x="3479186" y="0"/>
                  <a:pt x="3524673" y="45488"/>
                  <a:pt x="3524673" y="101599"/>
                </a:cubicBezTo>
                <a:lnTo>
                  <a:pt x="3524673" y="1225974"/>
                </a:lnTo>
                <a:cubicBezTo>
                  <a:pt x="3524673" y="1282086"/>
                  <a:pt x="3479186" y="1327573"/>
                  <a:pt x="3423074" y="1327573"/>
                </a:cubicBezTo>
                <a:lnTo>
                  <a:pt x="101599" y="1327573"/>
                </a:lnTo>
                <a:cubicBezTo>
                  <a:pt x="45488" y="1327573"/>
                  <a:pt x="0" y="1282086"/>
                  <a:pt x="0" y="1225974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34560" y="561509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35969" y="3731"/>
                </a:moveTo>
                <a:cubicBezTo>
                  <a:pt x="131008" y="-1230"/>
                  <a:pt x="122952" y="-1230"/>
                  <a:pt x="117991" y="3731"/>
                </a:cubicBezTo>
                <a:cubicBezTo>
                  <a:pt x="113030" y="8692"/>
                  <a:pt x="113030" y="16748"/>
                  <a:pt x="117991" y="21709"/>
                </a:cubicBezTo>
                <a:lnTo>
                  <a:pt x="121722" y="25400"/>
                </a:lnTo>
                <a:lnTo>
                  <a:pt x="11152" y="135969"/>
                </a:lnTo>
                <a:cubicBezTo>
                  <a:pt x="4008" y="143113"/>
                  <a:pt x="0" y="152797"/>
                  <a:pt x="0" y="162917"/>
                </a:cubicBezTo>
                <a:lnTo>
                  <a:pt x="0" y="165100"/>
                </a:lnTo>
                <a:cubicBezTo>
                  <a:pt x="0" y="186134"/>
                  <a:pt x="17066" y="203200"/>
                  <a:pt x="38100" y="203200"/>
                </a:cubicBezTo>
                <a:lnTo>
                  <a:pt x="40283" y="203200"/>
                </a:lnTo>
                <a:cubicBezTo>
                  <a:pt x="50403" y="203200"/>
                  <a:pt x="60087" y="199192"/>
                  <a:pt x="67231" y="192048"/>
                </a:cubicBezTo>
                <a:lnTo>
                  <a:pt x="177800" y="81478"/>
                </a:lnTo>
                <a:lnTo>
                  <a:pt x="181531" y="85209"/>
                </a:lnTo>
                <a:cubicBezTo>
                  <a:pt x="186492" y="90170"/>
                  <a:pt x="194548" y="90170"/>
                  <a:pt x="199509" y="85209"/>
                </a:cubicBezTo>
                <a:cubicBezTo>
                  <a:pt x="204470" y="80248"/>
                  <a:pt x="204470" y="72192"/>
                  <a:pt x="199509" y="67231"/>
                </a:cubicBezTo>
                <a:lnTo>
                  <a:pt x="136009" y="3731"/>
                </a:lnTo>
                <a:close/>
                <a:moveTo>
                  <a:pt x="81478" y="101600"/>
                </a:moveTo>
                <a:lnTo>
                  <a:pt x="139700" y="43378"/>
                </a:lnTo>
                <a:lnTo>
                  <a:pt x="159822" y="63500"/>
                </a:lnTo>
                <a:lnTo>
                  <a:pt x="121722" y="101600"/>
                </a:lnTo>
                <a:lnTo>
                  <a:pt x="81439" y="10160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1" name="Text 28"/>
          <p:cNvSpPr/>
          <p:nvPr/>
        </p:nvSpPr>
        <p:spPr>
          <a:xfrm>
            <a:off x="5064760" y="5564293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Pilot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709160" y="5970693"/>
            <a:ext cx="320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 PostgreSQL migration for non-critical workloads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232987" y="5357708"/>
            <a:ext cx="3524673" cy="1327573"/>
          </a:xfrm>
          <a:custGeom>
            <a:avLst/>
            <a:gdLst/>
            <a:ahLst/>
            <a:cxnLst/>
            <a:rect l="l" t="t" r="r" b="b"/>
            <a:pathLst>
              <a:path w="3524673" h="1327573">
                <a:moveTo>
                  <a:pt x="101599" y="0"/>
                </a:moveTo>
                <a:lnTo>
                  <a:pt x="3423074" y="0"/>
                </a:lnTo>
                <a:cubicBezTo>
                  <a:pt x="3479186" y="0"/>
                  <a:pt x="3524673" y="45488"/>
                  <a:pt x="3524673" y="101599"/>
                </a:cubicBezTo>
                <a:lnTo>
                  <a:pt x="3524673" y="1225974"/>
                </a:lnTo>
                <a:cubicBezTo>
                  <a:pt x="3524673" y="1282086"/>
                  <a:pt x="3479186" y="1327573"/>
                  <a:pt x="3423074" y="1327573"/>
                </a:cubicBezTo>
                <a:lnTo>
                  <a:pt x="101599" y="1327573"/>
                </a:lnTo>
                <a:cubicBezTo>
                  <a:pt x="45488" y="1327573"/>
                  <a:pt x="0" y="1282086"/>
                  <a:pt x="0" y="1225974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490374" y="5615093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23587" y="12700"/>
                </a:moveTo>
                <a:lnTo>
                  <a:pt x="127000" y="12700"/>
                </a:lnTo>
                <a:cubicBezTo>
                  <a:pt x="141010" y="12700"/>
                  <a:pt x="152400" y="24090"/>
                  <a:pt x="152400" y="38100"/>
                </a:cubicBezTo>
                <a:lnTo>
                  <a:pt x="152400" y="177800"/>
                </a:lnTo>
                <a:cubicBezTo>
                  <a:pt x="152400" y="191810"/>
                  <a:pt x="141010" y="203200"/>
                  <a:pt x="127000" y="203200"/>
                </a:cubicBezTo>
                <a:lnTo>
                  <a:pt x="25400" y="203200"/>
                </a:lnTo>
                <a:cubicBezTo>
                  <a:pt x="11390" y="203200"/>
                  <a:pt x="0" y="191810"/>
                  <a:pt x="0" y="177800"/>
                </a:cubicBezTo>
                <a:lnTo>
                  <a:pt x="0" y="38100"/>
                </a:lnTo>
                <a:cubicBezTo>
                  <a:pt x="0" y="24090"/>
                  <a:pt x="11390" y="12700"/>
                  <a:pt x="25400" y="12700"/>
                </a:cubicBezTo>
                <a:lnTo>
                  <a:pt x="28813" y="12700"/>
                </a:lnTo>
                <a:cubicBezTo>
                  <a:pt x="33179" y="5120"/>
                  <a:pt x="41394" y="0"/>
                  <a:pt x="50800" y="0"/>
                </a:cubicBezTo>
                <a:lnTo>
                  <a:pt x="101600" y="0"/>
                </a:lnTo>
                <a:cubicBezTo>
                  <a:pt x="111006" y="0"/>
                  <a:pt x="119221" y="5120"/>
                  <a:pt x="123587" y="12700"/>
                </a:cubicBezTo>
                <a:close/>
                <a:moveTo>
                  <a:pt x="98425" y="44450"/>
                </a:moveTo>
                <a:cubicBezTo>
                  <a:pt x="103703" y="44450"/>
                  <a:pt x="107950" y="40203"/>
                  <a:pt x="107950" y="34925"/>
                </a:cubicBezTo>
                <a:cubicBezTo>
                  <a:pt x="107950" y="29647"/>
                  <a:pt x="103703" y="25400"/>
                  <a:pt x="98425" y="25400"/>
                </a:cubicBezTo>
                <a:lnTo>
                  <a:pt x="53975" y="25400"/>
                </a:lnTo>
                <a:cubicBezTo>
                  <a:pt x="48697" y="25400"/>
                  <a:pt x="44450" y="29647"/>
                  <a:pt x="44450" y="34925"/>
                </a:cubicBezTo>
                <a:cubicBezTo>
                  <a:pt x="44450" y="40203"/>
                  <a:pt x="48697" y="44450"/>
                  <a:pt x="53975" y="44450"/>
                </a:cubicBezTo>
                <a:lnTo>
                  <a:pt x="98425" y="44450"/>
                </a:lnTo>
                <a:close/>
                <a:moveTo>
                  <a:pt x="109696" y="103465"/>
                </a:moveTo>
                <a:cubicBezTo>
                  <a:pt x="112474" y="99020"/>
                  <a:pt x="111125" y="93147"/>
                  <a:pt x="106680" y="90329"/>
                </a:cubicBezTo>
                <a:cubicBezTo>
                  <a:pt x="102235" y="87511"/>
                  <a:pt x="96361" y="88900"/>
                  <a:pt x="93543" y="93345"/>
                </a:cubicBezTo>
                <a:lnTo>
                  <a:pt x="69175" y="132358"/>
                </a:lnTo>
                <a:lnTo>
                  <a:pt x="58460" y="118070"/>
                </a:lnTo>
                <a:cubicBezTo>
                  <a:pt x="55285" y="113863"/>
                  <a:pt x="49332" y="112990"/>
                  <a:pt x="45125" y="116165"/>
                </a:cubicBezTo>
                <a:cubicBezTo>
                  <a:pt x="40918" y="119340"/>
                  <a:pt x="40045" y="125293"/>
                  <a:pt x="43220" y="129500"/>
                </a:cubicBezTo>
                <a:lnTo>
                  <a:pt x="62270" y="154900"/>
                </a:lnTo>
                <a:cubicBezTo>
                  <a:pt x="64135" y="157401"/>
                  <a:pt x="67151" y="158829"/>
                  <a:pt x="70287" y="158710"/>
                </a:cubicBezTo>
                <a:cubicBezTo>
                  <a:pt x="73422" y="158591"/>
                  <a:pt x="76279" y="156924"/>
                  <a:pt x="77946" y="154226"/>
                </a:cubicBezTo>
                <a:lnTo>
                  <a:pt x="109696" y="103426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5" name="Text 32"/>
          <p:cNvSpPr/>
          <p:nvPr/>
        </p:nvSpPr>
        <p:spPr>
          <a:xfrm>
            <a:off x="8795174" y="5564293"/>
            <a:ext cx="116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439574" y="5970693"/>
            <a:ext cx="320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 TypeScript standards for all new projects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1963401" y="5357708"/>
            <a:ext cx="3524673" cy="1327573"/>
          </a:xfrm>
          <a:custGeom>
            <a:avLst/>
            <a:gdLst/>
            <a:ahLst/>
            <a:cxnLst/>
            <a:rect l="l" t="t" r="r" b="b"/>
            <a:pathLst>
              <a:path w="3524673" h="1327573">
                <a:moveTo>
                  <a:pt x="101599" y="0"/>
                </a:moveTo>
                <a:lnTo>
                  <a:pt x="3423074" y="0"/>
                </a:lnTo>
                <a:cubicBezTo>
                  <a:pt x="3479186" y="0"/>
                  <a:pt x="3524673" y="45488"/>
                  <a:pt x="3524673" y="101599"/>
                </a:cubicBezTo>
                <a:lnTo>
                  <a:pt x="3524673" y="1225974"/>
                </a:lnTo>
                <a:cubicBezTo>
                  <a:pt x="3524673" y="1282086"/>
                  <a:pt x="3479186" y="1327573"/>
                  <a:pt x="3423074" y="1327573"/>
                </a:cubicBezTo>
                <a:lnTo>
                  <a:pt x="101599" y="1327573"/>
                </a:lnTo>
                <a:cubicBezTo>
                  <a:pt x="45488" y="1327573"/>
                  <a:pt x="0" y="1282086"/>
                  <a:pt x="0" y="1225974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6773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2182687" y="5615093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14300" y="12700"/>
                </a:moveTo>
                <a:cubicBezTo>
                  <a:pt x="82233" y="12700"/>
                  <a:pt x="56555" y="27305"/>
                  <a:pt x="37862" y="44688"/>
                </a:cubicBezTo>
                <a:cubicBezTo>
                  <a:pt x="19288" y="61952"/>
                  <a:pt x="6866" y="82550"/>
                  <a:pt x="953" y="96718"/>
                </a:cubicBezTo>
                <a:cubicBezTo>
                  <a:pt x="-357" y="99854"/>
                  <a:pt x="-357" y="103346"/>
                  <a:pt x="953" y="106482"/>
                </a:cubicBezTo>
                <a:cubicBezTo>
                  <a:pt x="6866" y="120650"/>
                  <a:pt x="19288" y="141288"/>
                  <a:pt x="37862" y="158512"/>
                </a:cubicBezTo>
                <a:cubicBezTo>
                  <a:pt x="56555" y="175855"/>
                  <a:pt x="82233" y="190500"/>
                  <a:pt x="114300" y="190500"/>
                </a:cubicBezTo>
                <a:cubicBezTo>
                  <a:pt x="146368" y="190500"/>
                  <a:pt x="172045" y="175895"/>
                  <a:pt x="190738" y="158512"/>
                </a:cubicBezTo>
                <a:cubicBezTo>
                  <a:pt x="209312" y="141248"/>
                  <a:pt x="221734" y="120650"/>
                  <a:pt x="227648" y="106482"/>
                </a:cubicBezTo>
                <a:cubicBezTo>
                  <a:pt x="228957" y="103346"/>
                  <a:pt x="228957" y="99854"/>
                  <a:pt x="227648" y="96718"/>
                </a:cubicBezTo>
                <a:cubicBezTo>
                  <a:pt x="221734" y="82550"/>
                  <a:pt x="209312" y="61912"/>
                  <a:pt x="190738" y="44688"/>
                </a:cubicBezTo>
                <a:cubicBezTo>
                  <a:pt x="172045" y="27345"/>
                  <a:pt x="146368" y="12700"/>
                  <a:pt x="114300" y="12700"/>
                </a:cubicBezTo>
                <a:close/>
                <a:moveTo>
                  <a:pt x="57150" y="101600"/>
                </a:moveTo>
                <a:cubicBezTo>
                  <a:pt x="57150" y="70058"/>
                  <a:pt x="82758" y="44450"/>
                  <a:pt x="114300" y="44450"/>
                </a:cubicBezTo>
                <a:cubicBezTo>
                  <a:pt x="145842" y="44450"/>
                  <a:pt x="171450" y="70058"/>
                  <a:pt x="171450" y="101600"/>
                </a:cubicBezTo>
                <a:cubicBezTo>
                  <a:pt x="171450" y="133142"/>
                  <a:pt x="145842" y="158750"/>
                  <a:pt x="114300" y="158750"/>
                </a:cubicBezTo>
                <a:cubicBezTo>
                  <a:pt x="82758" y="158750"/>
                  <a:pt x="57150" y="133142"/>
                  <a:pt x="57150" y="101600"/>
                </a:cubicBezTo>
                <a:close/>
                <a:moveTo>
                  <a:pt x="114300" y="76200"/>
                </a:moveTo>
                <a:cubicBezTo>
                  <a:pt x="114300" y="90210"/>
                  <a:pt x="102910" y="101600"/>
                  <a:pt x="88900" y="101600"/>
                </a:cubicBezTo>
                <a:cubicBezTo>
                  <a:pt x="84336" y="101600"/>
                  <a:pt x="80050" y="100409"/>
                  <a:pt x="76319" y="98266"/>
                </a:cubicBezTo>
                <a:cubicBezTo>
                  <a:pt x="75922" y="102592"/>
                  <a:pt x="76279" y="107037"/>
                  <a:pt x="77470" y="111443"/>
                </a:cubicBezTo>
                <a:cubicBezTo>
                  <a:pt x="82907" y="131763"/>
                  <a:pt x="103823" y="143828"/>
                  <a:pt x="124143" y="138390"/>
                </a:cubicBezTo>
                <a:cubicBezTo>
                  <a:pt x="144463" y="132953"/>
                  <a:pt x="156528" y="112038"/>
                  <a:pt x="151090" y="91718"/>
                </a:cubicBezTo>
                <a:cubicBezTo>
                  <a:pt x="146248" y="73581"/>
                  <a:pt x="129064" y="62032"/>
                  <a:pt x="110966" y="63619"/>
                </a:cubicBezTo>
                <a:cubicBezTo>
                  <a:pt x="113070" y="67310"/>
                  <a:pt x="114300" y="71596"/>
                  <a:pt x="114300" y="7620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9" name="Text 36"/>
          <p:cNvSpPr/>
          <p:nvPr/>
        </p:nvSpPr>
        <p:spPr>
          <a:xfrm>
            <a:off x="12525587" y="5564293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2169987" y="5970693"/>
            <a:ext cx="320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Rust/Go for specialized high-performance use cases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531707" y="7152636"/>
            <a:ext cx="15212907" cy="1117600"/>
          </a:xfrm>
          <a:custGeom>
            <a:avLst/>
            <a:gdLst/>
            <a:ahLst/>
            <a:cxnLst/>
            <a:rect l="l" t="t" r="r" b="b"/>
            <a:pathLst>
              <a:path w="15212907" h="1117600">
                <a:moveTo>
                  <a:pt x="47413" y="0"/>
                </a:moveTo>
                <a:lnTo>
                  <a:pt x="15060511" y="0"/>
                </a:lnTo>
                <a:cubicBezTo>
                  <a:pt x="15144677" y="0"/>
                  <a:pt x="15212907" y="68230"/>
                  <a:pt x="15212907" y="152396"/>
                </a:cubicBezTo>
                <a:lnTo>
                  <a:pt x="15212907" y="965204"/>
                </a:lnTo>
                <a:cubicBezTo>
                  <a:pt x="15212907" y="1049370"/>
                  <a:pt x="15144677" y="1117600"/>
                  <a:pt x="15060511" y="1117600"/>
                </a:cubicBezTo>
                <a:lnTo>
                  <a:pt x="47413" y="1117600"/>
                </a:lnTo>
                <a:cubicBezTo>
                  <a:pt x="21228" y="1117600"/>
                  <a:pt x="0" y="1096372"/>
                  <a:pt x="0" y="10701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2" name="Shape 39"/>
          <p:cNvSpPr/>
          <p:nvPr/>
        </p:nvSpPr>
        <p:spPr>
          <a:xfrm>
            <a:off x="531707" y="7152636"/>
            <a:ext cx="47413" cy="1117600"/>
          </a:xfrm>
          <a:custGeom>
            <a:avLst/>
            <a:gdLst/>
            <a:ahLst/>
            <a:cxnLst/>
            <a:rect l="l" t="t" r="r" b="b"/>
            <a:pathLst>
              <a:path w="47413" h="1117600">
                <a:moveTo>
                  <a:pt x="47413" y="0"/>
                </a:moveTo>
                <a:lnTo>
                  <a:pt x="47413" y="0"/>
                </a:lnTo>
                <a:lnTo>
                  <a:pt x="47413" y="1117600"/>
                </a:lnTo>
                <a:lnTo>
                  <a:pt x="47413" y="1117600"/>
                </a:lnTo>
                <a:cubicBezTo>
                  <a:pt x="21228" y="1117600"/>
                  <a:pt x="0" y="1096372"/>
                  <a:pt x="0" y="1070187"/>
                </a:cubicBezTo>
                <a:lnTo>
                  <a:pt x="0" y="47413"/>
                </a:lnTo>
                <a:cubicBezTo>
                  <a:pt x="0" y="21245"/>
                  <a:pt x="21245" y="0"/>
                  <a:pt x="4741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3" name="Shape 40"/>
          <p:cNvSpPr/>
          <p:nvPr/>
        </p:nvSpPr>
        <p:spPr>
          <a:xfrm>
            <a:off x="809413" y="752093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4" name="Text 41"/>
          <p:cNvSpPr/>
          <p:nvPr/>
        </p:nvSpPr>
        <p:spPr>
          <a:xfrm>
            <a:off x="1438063" y="7355836"/>
            <a:ext cx="1360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Future Belongs to Organizations That Act Today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438063" y="7762236"/>
            <a:ext cx="135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trends wait for no one. Organizations that align their strategy with these insights will capture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 faster time-to-market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 lower costs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533400" y="849883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050" y="25400"/>
                </a:moveTo>
                <a:cubicBezTo>
                  <a:pt x="8533" y="25400"/>
                  <a:pt x="0" y="33933"/>
                  <a:pt x="0" y="44450"/>
                </a:cubicBezTo>
                <a:cubicBezTo>
                  <a:pt x="0" y="50443"/>
                  <a:pt x="2818" y="56078"/>
                  <a:pt x="7620" y="59690"/>
                </a:cubicBezTo>
                <a:lnTo>
                  <a:pt x="90170" y="121603"/>
                </a:lnTo>
                <a:cubicBezTo>
                  <a:pt x="96957" y="126683"/>
                  <a:pt x="106243" y="126683"/>
                  <a:pt x="113030" y="121603"/>
                </a:cubicBezTo>
                <a:lnTo>
                  <a:pt x="195580" y="59690"/>
                </a:lnTo>
                <a:cubicBezTo>
                  <a:pt x="200382" y="56078"/>
                  <a:pt x="203200" y="50443"/>
                  <a:pt x="203200" y="44450"/>
                </a:cubicBezTo>
                <a:cubicBezTo>
                  <a:pt x="203200" y="33933"/>
                  <a:pt x="194667" y="25400"/>
                  <a:pt x="184150" y="25400"/>
                </a:cubicBezTo>
                <a:lnTo>
                  <a:pt x="19050" y="25400"/>
                </a:lnTo>
                <a:close/>
                <a:moveTo>
                  <a:pt x="0" y="77788"/>
                </a:moveTo>
                <a:lnTo>
                  <a:pt x="0" y="152400"/>
                </a:lnTo>
                <a:cubicBezTo>
                  <a:pt x="0" y="166410"/>
                  <a:pt x="11390" y="177800"/>
                  <a:pt x="25400" y="177800"/>
                </a:cubicBezTo>
                <a:lnTo>
                  <a:pt x="177800" y="177800"/>
                </a:lnTo>
                <a:cubicBezTo>
                  <a:pt x="191810" y="177800"/>
                  <a:pt x="203200" y="166410"/>
                  <a:pt x="203200" y="152400"/>
                </a:cubicBezTo>
                <a:lnTo>
                  <a:pt x="203200" y="77788"/>
                </a:lnTo>
                <a:lnTo>
                  <a:pt x="124460" y="136843"/>
                </a:lnTo>
                <a:cubicBezTo>
                  <a:pt x="110927" y="147003"/>
                  <a:pt x="92273" y="147003"/>
                  <a:pt x="78740" y="136843"/>
                </a:cubicBezTo>
                <a:lnTo>
                  <a:pt x="0" y="7778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7" name="Text 44"/>
          <p:cNvSpPr/>
          <p:nvPr/>
        </p:nvSpPr>
        <p:spPr>
          <a:xfrm>
            <a:off x="863600" y="8473436"/>
            <a:ext cx="351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Contact: technology.strategy@company.com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13475548" y="8498836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50800" y="0"/>
                </a:moveTo>
                <a:cubicBezTo>
                  <a:pt x="43775" y="0"/>
                  <a:pt x="38100" y="5675"/>
                  <a:pt x="38100" y="12700"/>
                </a:cubicBezTo>
                <a:lnTo>
                  <a:pt x="38100" y="25400"/>
                </a:lnTo>
                <a:lnTo>
                  <a:pt x="25400" y="25400"/>
                </a:lnTo>
                <a:cubicBezTo>
                  <a:pt x="11390" y="25400"/>
                  <a:pt x="0" y="36790"/>
                  <a:pt x="0" y="50800"/>
                </a:cubicBezTo>
                <a:lnTo>
                  <a:pt x="0" y="69850"/>
                </a:lnTo>
                <a:lnTo>
                  <a:pt x="177800" y="69850"/>
                </a:lnTo>
                <a:lnTo>
                  <a:pt x="177800" y="50800"/>
                </a:lnTo>
                <a:cubicBezTo>
                  <a:pt x="177800" y="36790"/>
                  <a:pt x="166410" y="25400"/>
                  <a:pt x="152400" y="25400"/>
                </a:cubicBezTo>
                <a:lnTo>
                  <a:pt x="139700" y="25400"/>
                </a:lnTo>
                <a:lnTo>
                  <a:pt x="139700" y="12700"/>
                </a:lnTo>
                <a:cubicBezTo>
                  <a:pt x="139700" y="5675"/>
                  <a:pt x="134025" y="0"/>
                  <a:pt x="127000" y="0"/>
                </a:cubicBezTo>
                <a:cubicBezTo>
                  <a:pt x="119975" y="0"/>
                  <a:pt x="114300" y="5675"/>
                  <a:pt x="114300" y="12700"/>
                </a:cubicBezTo>
                <a:lnTo>
                  <a:pt x="114300" y="25400"/>
                </a:lnTo>
                <a:lnTo>
                  <a:pt x="63500" y="25400"/>
                </a:lnTo>
                <a:lnTo>
                  <a:pt x="63500" y="12700"/>
                </a:lnTo>
                <a:cubicBezTo>
                  <a:pt x="63500" y="5675"/>
                  <a:pt x="57825" y="0"/>
                  <a:pt x="50800" y="0"/>
                </a:cubicBezTo>
                <a:close/>
                <a:moveTo>
                  <a:pt x="0" y="88900"/>
                </a:move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88900"/>
                </a:lnTo>
                <a:lnTo>
                  <a:pt x="0" y="8890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9" name="Text 46"/>
          <p:cNvSpPr/>
          <p:nvPr/>
        </p:nvSpPr>
        <p:spPr>
          <a:xfrm>
            <a:off x="13793048" y="8473436"/>
            <a:ext cx="204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 2026 Strategy Review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Trends Analysis: Programming Languages &amp; Databases 2025-2026</dc:title>
  <dc:subject>Technology Trends Analysis: Programming Languages &amp; Databases 2025-2026</dc:subject>
  <dc:creator>Kimi</dc:creator>
  <cp:lastModifiedBy>Kimi</cp:lastModifiedBy>
  <cp:revision>1</cp:revision>
  <dcterms:created xsi:type="dcterms:W3CDTF">2026-03-13T09:22:35Z</dcterms:created>
  <dcterms:modified xsi:type="dcterms:W3CDTF">2026-03-13T09:22:35Z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{"Label":"Technology Trends Analysis: Programming Languages &amp; Databases 2025-2026","ContentProducer":"001191110108MACG2KBH8F10000","ProduceID":"","ReservedCode1":"","ContentPropagator":"001191110108MACG2KBH8F20000","PropagateID":"","ReservedCode2":""}</vt:lpwstr>
  </property>
</Properties>
</file>